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21"/>
  </p:notesMasterIdLst>
  <p:handoutMasterIdLst>
    <p:handoutMasterId r:id="rId22"/>
  </p:handoutMasterIdLst>
  <p:sldIdLst>
    <p:sldId id="881" r:id="rId3"/>
    <p:sldId id="1031" r:id="rId4"/>
    <p:sldId id="1304" r:id="rId5"/>
    <p:sldId id="1271" r:id="rId6"/>
    <p:sldId id="1305" r:id="rId7"/>
    <p:sldId id="1318" r:id="rId8"/>
    <p:sldId id="1307" r:id="rId9"/>
    <p:sldId id="1319" r:id="rId10"/>
    <p:sldId id="1320" r:id="rId11"/>
    <p:sldId id="1308" r:id="rId12"/>
    <p:sldId id="1316" r:id="rId13"/>
    <p:sldId id="1312" r:id="rId14"/>
    <p:sldId id="1314" r:id="rId15"/>
    <p:sldId id="1313" r:id="rId16"/>
    <p:sldId id="1315" r:id="rId17"/>
    <p:sldId id="1321" r:id="rId18"/>
    <p:sldId id="1323" r:id="rId19"/>
    <p:sldId id="1261" r:id="rId20"/>
  </p:sldIdLst>
  <p:sldSz cx="12192000" cy="6858000"/>
  <p:notesSz cx="6858000" cy="9144000"/>
  <p:custDataLst>
    <p:tags r:id="rId23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38358AF-AAFF-4500-AC7F-5388D9169D2F}">
          <p14:sldIdLst>
            <p14:sldId id="881"/>
            <p14:sldId id="1031"/>
            <p14:sldId id="1304"/>
            <p14:sldId id="1271"/>
            <p14:sldId id="1305"/>
            <p14:sldId id="1318"/>
            <p14:sldId id="1307"/>
            <p14:sldId id="1319"/>
            <p14:sldId id="1320"/>
            <p14:sldId id="1308"/>
            <p14:sldId id="1316"/>
            <p14:sldId id="1312"/>
            <p14:sldId id="1314"/>
            <p14:sldId id="1313"/>
            <p14:sldId id="1315"/>
            <p14:sldId id="1321"/>
            <p14:sldId id="1323"/>
            <p14:sldId id="1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培培" initials="培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2B5CB1"/>
    <a:srgbClr val="0070C0"/>
    <a:srgbClr val="F3F8FC"/>
    <a:srgbClr val="EFF6FC"/>
    <a:srgbClr val="F9F9F9"/>
    <a:srgbClr val="3A6ECA"/>
    <a:srgbClr val="2A5AAF"/>
    <a:srgbClr val="9277F5"/>
    <a:srgbClr val="EA7B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66" autoAdjust="0"/>
    <p:restoredTop sz="94257" autoAdjust="0"/>
  </p:normalViewPr>
  <p:slideViewPr>
    <p:cSldViewPr snapToGrid="0" showGuides="1">
      <p:cViewPr varScale="1">
        <p:scale>
          <a:sx n="82" d="100"/>
          <a:sy n="82" d="100"/>
        </p:scale>
        <p:origin x="374" y="58"/>
      </p:cViewPr>
      <p:guideLst>
        <p:guide orient="horz" pos="201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63879-A9B8-4FB5-A138-14F876CAF339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27593-A527-46AB-AD6A-06968355F5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86024-AB9B-43A8-AC4E-CD3F51784736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C2FF8-7EDF-43B7-B100-E00A2F1032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BF2980-540F-4F7F-A4CC-709C5E98033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C2FF8-7EDF-43B7-B100-E00A2F1032C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48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C2FF8-7EDF-43B7-B100-E00A2F1032C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27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BF2980-540F-4F7F-A4CC-709C5E980331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629" y="216711"/>
            <a:ext cx="1656163" cy="408693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418143" y="726008"/>
            <a:ext cx="11452648" cy="137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459497" y="216711"/>
            <a:ext cx="9677019" cy="523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760297" y="763596"/>
            <a:ext cx="2689860" cy="6477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 flipV="1">
            <a:off x="838200" y="1644972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681037"/>
            <a:ext cx="2689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 flipV="1">
            <a:off x="838200" y="1644972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589" y="683039"/>
            <a:ext cx="2689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 flipV="1">
            <a:off x="838200" y="1644972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074148" y="6444018"/>
            <a:ext cx="2743200" cy="365125"/>
          </a:xfrm>
        </p:spPr>
        <p:txBody>
          <a:bodyPr/>
          <a:lstStyle>
            <a:lvl1pPr>
              <a:defRPr b="1"/>
            </a:lvl1pPr>
          </a:lstStyle>
          <a:p>
            <a:fld id="{FE7DABE4-E118-4913-A306-6F8695349AD0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-1" y="219076"/>
            <a:ext cx="1746252" cy="33813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矩形: 圆角 5"/>
          <p:cNvSpPr/>
          <p:nvPr userDrawn="1"/>
        </p:nvSpPr>
        <p:spPr>
          <a:xfrm>
            <a:off x="1930400" y="142875"/>
            <a:ext cx="8331200" cy="490538"/>
          </a:xfrm>
          <a:prstGeom prst="roundRect">
            <a:avLst>
              <a:gd name="adj" fmla="val 293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70C0"/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 anchorCtr="0">
            <a:normAutofit/>
          </a:bodyPr>
          <a:lstStyle/>
          <a:p>
            <a:pPr lvl="0" indent="0" algn="ctr" defTabSz="9144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zh-CN" altLang="en-US" sz="2600" b="1" dirty="0">
              <a:solidFill>
                <a:schemeClr val="bg1"/>
              </a:solidFill>
            </a:endParaRPr>
          </a:p>
        </p:txBody>
      </p:sp>
      <p:sp>
        <p:nvSpPr>
          <p:cNvPr id="7" name="梯形 6"/>
          <p:cNvSpPr/>
          <p:nvPr userDrawn="1"/>
        </p:nvSpPr>
        <p:spPr>
          <a:xfrm rot="16200000" flipH="1">
            <a:off x="1591870" y="299644"/>
            <a:ext cx="492921" cy="184148"/>
          </a:xfrm>
          <a:prstGeom prst="trapezoid">
            <a:avLst>
              <a:gd name="adj" fmla="val 53902"/>
            </a:avLst>
          </a:prstGeom>
          <a:gradFill>
            <a:gsLst>
              <a:gs pos="100000">
                <a:schemeClr val="bg1">
                  <a:lumMod val="75000"/>
                  <a:alpha val="0"/>
                </a:schemeClr>
              </a:gs>
              <a:gs pos="0">
                <a:schemeClr val="bg1">
                  <a:lumMod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 flipH="1">
            <a:off x="10445750" y="219076"/>
            <a:ext cx="1746252" cy="33813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梯形 8"/>
          <p:cNvSpPr/>
          <p:nvPr userDrawn="1"/>
        </p:nvSpPr>
        <p:spPr>
          <a:xfrm rot="5400000">
            <a:off x="10107216" y="299644"/>
            <a:ext cx="492921" cy="184148"/>
          </a:xfrm>
          <a:prstGeom prst="trapezoid">
            <a:avLst>
              <a:gd name="adj" fmla="val 53902"/>
            </a:avLst>
          </a:prstGeom>
          <a:gradFill>
            <a:gsLst>
              <a:gs pos="100000">
                <a:schemeClr val="bg1">
                  <a:lumMod val="75000"/>
                  <a:alpha val="0"/>
                </a:schemeClr>
              </a:gs>
              <a:gs pos="0">
                <a:schemeClr val="bg1">
                  <a:lumMod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2114552" y="69850"/>
            <a:ext cx="7962896" cy="636588"/>
          </a:xfrm>
          <a:noFill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单击此处输入标题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46847"/>
            <a:ext cx="12192000" cy="663575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760297" y="763596"/>
            <a:ext cx="2689860" cy="6477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 flipV="1">
            <a:off x="838200" y="1644972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681037"/>
            <a:ext cx="2689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 flipV="1">
            <a:off x="838200" y="1644972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589" y="683039"/>
            <a:ext cx="26892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 flipV="1">
            <a:off x="838200" y="1644972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074148" y="6444018"/>
            <a:ext cx="2743200" cy="365125"/>
          </a:xfrm>
        </p:spPr>
        <p:txBody>
          <a:bodyPr/>
          <a:lstStyle>
            <a:lvl1pPr>
              <a:defRPr b="1"/>
            </a:lvl1pPr>
          </a:lstStyle>
          <a:p>
            <a:fld id="{FE7DABE4-E118-4913-A306-6F8695349AD0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-1" y="219076"/>
            <a:ext cx="1746252" cy="33813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: 圆角 5"/>
          <p:cNvSpPr/>
          <p:nvPr userDrawn="1"/>
        </p:nvSpPr>
        <p:spPr>
          <a:xfrm>
            <a:off x="1930400" y="142875"/>
            <a:ext cx="8331200" cy="490538"/>
          </a:xfrm>
          <a:prstGeom prst="roundRect">
            <a:avLst>
              <a:gd name="adj" fmla="val 293"/>
            </a:avLst>
          </a:prstGeom>
          <a:gradFill flip="none" rotWithShape="1">
            <a:gsLst>
              <a:gs pos="0">
                <a:srgbClr val="0070C0"/>
              </a:gs>
              <a:gs pos="100000">
                <a:srgbClr val="0070C0"/>
              </a:gs>
            </a:gsLst>
            <a:lin ang="16200000" scaled="1"/>
            <a:tileRect/>
          </a:gradFill>
        </p:spPr>
        <p:txBody>
          <a:bodyPr vert="horz" lIns="68580" tIns="34290" rIns="68580" bIns="34290" rtlCol="0" anchor="ctr" anchorCtr="0">
            <a:normAutofit/>
          </a:bodyPr>
          <a:lstStyle/>
          <a:p>
            <a:pPr lvl="0" indent="0" algn="ctr" defTabSz="9144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zh-CN" altLang="en-US" sz="1950" b="1" dirty="0">
              <a:solidFill>
                <a:schemeClr val="bg1"/>
              </a:solidFill>
            </a:endParaRPr>
          </a:p>
        </p:txBody>
      </p:sp>
      <p:sp>
        <p:nvSpPr>
          <p:cNvPr id="7" name="梯形 6"/>
          <p:cNvSpPr/>
          <p:nvPr userDrawn="1"/>
        </p:nvSpPr>
        <p:spPr>
          <a:xfrm rot="16200000" flipH="1">
            <a:off x="1591870" y="299644"/>
            <a:ext cx="492921" cy="184148"/>
          </a:xfrm>
          <a:prstGeom prst="trapezoid">
            <a:avLst>
              <a:gd name="adj" fmla="val 53902"/>
            </a:avLst>
          </a:prstGeom>
          <a:gradFill>
            <a:gsLst>
              <a:gs pos="100000">
                <a:schemeClr val="bg1">
                  <a:lumMod val="75000"/>
                  <a:alpha val="0"/>
                </a:schemeClr>
              </a:gs>
              <a:gs pos="0">
                <a:schemeClr val="bg1">
                  <a:lumMod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/>
        </p:nvSpPr>
        <p:spPr>
          <a:xfrm flipH="1">
            <a:off x="10445750" y="219076"/>
            <a:ext cx="1746252" cy="33813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梯形 8"/>
          <p:cNvSpPr/>
          <p:nvPr userDrawn="1"/>
        </p:nvSpPr>
        <p:spPr>
          <a:xfrm rot="5400000">
            <a:off x="10107216" y="299644"/>
            <a:ext cx="492921" cy="184148"/>
          </a:xfrm>
          <a:prstGeom prst="trapezoid">
            <a:avLst>
              <a:gd name="adj" fmla="val 53902"/>
            </a:avLst>
          </a:prstGeom>
          <a:gradFill>
            <a:gsLst>
              <a:gs pos="100000">
                <a:schemeClr val="bg1">
                  <a:lumMod val="75000"/>
                  <a:alpha val="0"/>
                </a:schemeClr>
              </a:gs>
              <a:gs pos="0">
                <a:schemeClr val="bg1">
                  <a:lumMod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2114552" y="69850"/>
            <a:ext cx="7962896" cy="636588"/>
          </a:xfrm>
          <a:noFill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单击此处输入标题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00"/>
    </mc:Choice>
    <mc:Fallback xmlns="">
      <p:transition advTm="9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3ACB-3285-4C53-9401-1A3DE9DE4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1" r:id="rId12"/>
    <p:sldLayoutId id="214748367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21.xml"/><Relationship Id="rId6" Type="http://schemas.openxmlformats.org/officeDocument/2006/relationships/package" Target="../embeddings/Microsoft_Visio_Drawing3.vsdx"/><Relationship Id="rId5" Type="http://schemas.openxmlformats.org/officeDocument/2006/relationships/image" Target="../media/image18.emf"/><Relationship Id="rId4" Type="http://schemas.openxmlformats.org/officeDocument/2006/relationships/package" Target="../embeddings/Microsoft_Visio_Drawing2.vsd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1.jpeg"/><Relationship Id="rId7" Type="http://schemas.openxmlformats.org/officeDocument/2006/relationships/image" Target="../media/image24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3.jpeg"/><Relationship Id="rId5" Type="http://schemas.openxmlformats.org/officeDocument/2006/relationships/image" Target="../media/image22.emf"/><Relationship Id="rId4" Type="http://schemas.openxmlformats.org/officeDocument/2006/relationships/package" Target="../embeddings/Microsoft_Visio_Drawing4.vsdx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7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矩形 619"/>
          <p:cNvSpPr/>
          <p:nvPr/>
        </p:nvSpPr>
        <p:spPr>
          <a:xfrm>
            <a:off x="-12418" y="1906561"/>
            <a:ext cx="12192000" cy="2315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97" name="组合 596"/>
          <p:cNvGrpSpPr/>
          <p:nvPr/>
        </p:nvGrpSpPr>
        <p:grpSpPr>
          <a:xfrm>
            <a:off x="808818" y="1440333"/>
            <a:ext cx="3113459" cy="31140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99" name="椭圆 59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 sz="8000" dirty="0">
                <a:solidFill>
                  <a:srgbClr val="0070C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00" name="椭圆 599"/>
          <p:cNvSpPr/>
          <p:nvPr/>
        </p:nvSpPr>
        <p:spPr>
          <a:xfrm>
            <a:off x="183029" y="3832256"/>
            <a:ext cx="903568" cy="90356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01" name="椭圆 600"/>
          <p:cNvSpPr/>
          <p:nvPr/>
        </p:nvSpPr>
        <p:spPr>
          <a:xfrm>
            <a:off x="3586614" y="5051298"/>
            <a:ext cx="366369" cy="366369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02" name="组合 601"/>
          <p:cNvGrpSpPr/>
          <p:nvPr/>
        </p:nvGrpSpPr>
        <p:grpSpPr>
          <a:xfrm>
            <a:off x="703682" y="1425167"/>
            <a:ext cx="401413" cy="401413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603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" name="椭圆 60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5" name="组合 604"/>
          <p:cNvGrpSpPr/>
          <p:nvPr/>
        </p:nvGrpSpPr>
        <p:grpSpPr>
          <a:xfrm>
            <a:off x="3534015" y="812159"/>
            <a:ext cx="831871" cy="831871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06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07" name="椭圆 60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8" name="组合 607"/>
          <p:cNvGrpSpPr/>
          <p:nvPr/>
        </p:nvGrpSpPr>
        <p:grpSpPr>
          <a:xfrm>
            <a:off x="10189887" y="3939563"/>
            <a:ext cx="293036" cy="29303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60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0" name="椭圆 60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1" name="组合 610"/>
          <p:cNvGrpSpPr/>
          <p:nvPr/>
        </p:nvGrpSpPr>
        <p:grpSpPr>
          <a:xfrm>
            <a:off x="9648395" y="3895526"/>
            <a:ext cx="383892" cy="383892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612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3" name="椭圆 61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14" name="椭圆 613"/>
          <p:cNvSpPr/>
          <p:nvPr/>
        </p:nvSpPr>
        <p:spPr>
          <a:xfrm>
            <a:off x="8662277" y="5834756"/>
            <a:ext cx="366369" cy="366369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5" name="椭圆 614"/>
          <p:cNvSpPr/>
          <p:nvPr/>
        </p:nvSpPr>
        <p:spPr>
          <a:xfrm>
            <a:off x="1640209" y="4482475"/>
            <a:ext cx="183185" cy="183185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16" name="组合 615"/>
          <p:cNvGrpSpPr/>
          <p:nvPr/>
        </p:nvGrpSpPr>
        <p:grpSpPr>
          <a:xfrm>
            <a:off x="1930972" y="5328836"/>
            <a:ext cx="951985" cy="951985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17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8" name="椭圆 617"/>
            <p:cNvSpPr/>
            <p:nvPr/>
          </p:nvSpPr>
          <p:spPr>
            <a:xfrm>
              <a:off x="406534" y="673100"/>
              <a:ext cx="3825876" cy="3825876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22" name="TextBox 7"/>
          <p:cNvSpPr>
            <a:spLocks noChangeArrowheads="1"/>
          </p:cNvSpPr>
          <p:nvPr/>
        </p:nvSpPr>
        <p:spPr bwMode="auto">
          <a:xfrm>
            <a:off x="4027413" y="1857452"/>
            <a:ext cx="8164587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4400" kern="100" dirty="0">
                <a:solidFill>
                  <a:schemeClr val="bg1"/>
                </a:solidFill>
                <a:effectLst/>
                <a:ea typeface="楷体_GB2312"/>
                <a:cs typeface="Times New Roman" panose="02020603050405020304" pitchFamily="18" charset="0"/>
              </a:rPr>
              <a:t>面向立体仓库堆叠货物盘点任务的改进实例分割与模型压缩方法</a:t>
            </a:r>
            <a:endParaRPr lang="zh-CN" altLang="en-US" sz="440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cxnSp>
        <p:nvCxnSpPr>
          <p:cNvPr id="624" name="直接连接符 623"/>
          <p:cNvCxnSpPr/>
          <p:nvPr/>
        </p:nvCxnSpPr>
        <p:spPr>
          <a:xfrm flipV="1">
            <a:off x="4028612" y="3224613"/>
            <a:ext cx="7889422" cy="5758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40" y="288709"/>
            <a:ext cx="2743387" cy="676987"/>
          </a:xfrm>
          <a:prstGeom prst="rect">
            <a:avLst/>
          </a:prstGeom>
        </p:spPr>
      </p:pic>
      <p:sp>
        <p:nvSpPr>
          <p:cNvPr id="31" name="TextBox 7"/>
          <p:cNvSpPr>
            <a:spLocks noChangeArrowheads="1"/>
          </p:cNvSpPr>
          <p:nvPr/>
        </p:nvSpPr>
        <p:spPr bwMode="auto">
          <a:xfrm>
            <a:off x="3737782" y="3277623"/>
            <a:ext cx="8441801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Research on Improved Instance Segmentation and Model</a:t>
            </a:r>
          </a:p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Compression for Inventory Counting of Stacked Goods in</a:t>
            </a:r>
          </a:p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Automated Warehouses</a:t>
            </a:r>
          </a:p>
          <a:p>
            <a:endParaRPr lang="en-US" altLang="zh-CN" sz="32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32" name="图片 31"/>
          <p:cNvPicPr preferRelativeResize="0"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312" y="1625416"/>
            <a:ext cx="2744470" cy="274383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文本框 1"/>
          <p:cNvSpPr txBox="1"/>
          <p:nvPr/>
        </p:nvSpPr>
        <p:spPr>
          <a:xfrm>
            <a:off x="7638332" y="1023898"/>
            <a:ext cx="4238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谦逊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厚德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010288"/>
              </p:ext>
            </p:extLst>
          </p:nvPr>
        </p:nvGraphicFramePr>
        <p:xfrm>
          <a:off x="8369056" y="4415155"/>
          <a:ext cx="4365470" cy="1150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汇报人：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导  师：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325753" y="5806371"/>
            <a:ext cx="175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B7AB597-6EF0-45AC-A72A-094873901F17}" type="datetime1">
              <a:rPr lang="zh-CN" altLang="en-US" sz="240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2026/5/20</a:t>
            </a:fld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00"/>
    </mc:Choice>
    <mc:Fallback xmlns="">
      <p:transition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2109459" y="27440"/>
            <a:ext cx="7962896" cy="636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A9BA15-5FF5-A0AA-CD20-934C652E48BD}"/>
              </a:ext>
            </a:extLst>
          </p:cNvPr>
          <p:cNvSpPr txBox="1"/>
          <p:nvPr/>
        </p:nvSpPr>
        <p:spPr>
          <a:xfrm>
            <a:off x="5808550" y="6493678"/>
            <a:ext cx="127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726594-8374-D976-6BFD-CD7F90EC2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320" y="5130940"/>
            <a:ext cx="1247619" cy="14380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4C315D5-D5F0-5918-77DD-0CBD5A9C3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915" y="3109219"/>
            <a:ext cx="438095" cy="552381"/>
          </a:xfrm>
          <a:prstGeom prst="rect">
            <a:avLst/>
          </a:prstGeom>
        </p:spPr>
      </p:pic>
      <p:pic>
        <p:nvPicPr>
          <p:cNvPr id="7" name="图形 6" descr="Web 摄像头 纯色填充">
            <a:extLst>
              <a:ext uri="{FF2B5EF4-FFF2-40B4-BE49-F238E27FC236}">
                <a16:creationId xmlns:a16="http://schemas.microsoft.com/office/drawing/2014/main" id="{C1B5B3F0-9775-7528-E886-0B26D1B822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6045" y="3930262"/>
            <a:ext cx="707964" cy="707964"/>
          </a:xfrm>
          <a:prstGeom prst="rect">
            <a:avLst/>
          </a:prstGeom>
        </p:spPr>
      </p:pic>
      <p:pic>
        <p:nvPicPr>
          <p:cNvPr id="8" name="图形 7" descr="数据库 纯色填充">
            <a:extLst>
              <a:ext uri="{FF2B5EF4-FFF2-40B4-BE49-F238E27FC236}">
                <a16:creationId xmlns:a16="http://schemas.microsoft.com/office/drawing/2014/main" id="{40AABFDD-56CC-A516-795B-92A485A831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36571" y="3699749"/>
            <a:ext cx="552381" cy="5523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3E111E0-578A-576B-E62A-7D59455D96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4408" y="3541565"/>
            <a:ext cx="1298194" cy="149195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B973BF9-8923-286C-0F56-49F28962D0A3}"/>
              </a:ext>
            </a:extLst>
          </p:cNvPr>
          <p:cNvSpPr txBox="1"/>
          <p:nvPr/>
        </p:nvSpPr>
        <p:spPr>
          <a:xfrm>
            <a:off x="4066250" y="5012911"/>
            <a:ext cx="156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堆叠货物图片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F0A93D-F162-EC6C-42F3-392FBD6A1B92}"/>
              </a:ext>
            </a:extLst>
          </p:cNvPr>
          <p:cNvSpPr txBox="1"/>
          <p:nvPr/>
        </p:nvSpPr>
        <p:spPr>
          <a:xfrm>
            <a:off x="1558023" y="4561197"/>
            <a:ext cx="1298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摄像头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4D0E68-3AAD-A21A-1640-34C5A400B932}"/>
              </a:ext>
            </a:extLst>
          </p:cNvPr>
          <p:cNvSpPr txBox="1"/>
          <p:nvPr/>
        </p:nvSpPr>
        <p:spPr>
          <a:xfrm>
            <a:off x="2692963" y="6461228"/>
            <a:ext cx="918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堆垛机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9D13DA-3675-A2B9-880A-9A40B6A8C67A}"/>
              </a:ext>
            </a:extLst>
          </p:cNvPr>
          <p:cNvSpPr txBox="1"/>
          <p:nvPr/>
        </p:nvSpPr>
        <p:spPr>
          <a:xfrm>
            <a:off x="3301545" y="901841"/>
            <a:ext cx="3145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传统方法：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RFID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，传感器。</a:t>
            </a:r>
            <a:endParaRPr lang="en-US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缺点：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依赖人工、电子标签；成本高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243631-D369-41EC-4B14-0EC10CBCE5F3}"/>
              </a:ext>
            </a:extLst>
          </p:cNvPr>
          <p:cNvSpPr txBox="1"/>
          <p:nvPr/>
        </p:nvSpPr>
        <p:spPr>
          <a:xfrm>
            <a:off x="3775939" y="1918650"/>
            <a:ext cx="2546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基于视觉的盘点方法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现有方法精度低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DE11F3-CBD7-FDA9-A06E-530A60A72A39}"/>
              </a:ext>
            </a:extLst>
          </p:cNvPr>
          <p:cNvSpPr txBox="1"/>
          <p:nvPr/>
        </p:nvSpPr>
        <p:spPr>
          <a:xfrm>
            <a:off x="7136818" y="2394622"/>
            <a:ext cx="168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模型压缩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F9E1C37-12F9-5819-D141-C6A113E58859}"/>
              </a:ext>
            </a:extLst>
          </p:cNvPr>
          <p:cNvSpPr/>
          <p:nvPr/>
        </p:nvSpPr>
        <p:spPr>
          <a:xfrm>
            <a:off x="6750799" y="3831731"/>
            <a:ext cx="2075482" cy="702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基于视觉的堆叠货物盘点方法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3A2C226-6BC0-E9FB-AC64-80E066D475B9}"/>
              </a:ext>
            </a:extLst>
          </p:cNvPr>
          <p:cNvCxnSpPr>
            <a:cxnSpLocks/>
          </p:cNvCxnSpPr>
          <p:nvPr/>
        </p:nvCxnSpPr>
        <p:spPr>
          <a:xfrm flipH="1">
            <a:off x="4803505" y="1636158"/>
            <a:ext cx="1" cy="3775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F42C31B-DF19-7D99-FCBD-BFC5043FB354}"/>
              </a:ext>
            </a:extLst>
          </p:cNvPr>
          <p:cNvCxnSpPr>
            <a:cxnSpLocks/>
          </p:cNvCxnSpPr>
          <p:nvPr/>
        </p:nvCxnSpPr>
        <p:spPr>
          <a:xfrm flipH="1" flipV="1">
            <a:off x="2328745" y="4891485"/>
            <a:ext cx="166889" cy="200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B40A616-89AA-9A98-E059-571107E286EA}"/>
              </a:ext>
            </a:extLst>
          </p:cNvPr>
          <p:cNvCxnSpPr>
            <a:endCxn id="9" idx="1"/>
          </p:cNvCxnSpPr>
          <p:nvPr/>
        </p:nvCxnSpPr>
        <p:spPr>
          <a:xfrm flipV="1">
            <a:off x="2339575" y="4287543"/>
            <a:ext cx="1814833" cy="622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D9A004F-FB07-DF85-C385-F4E3F0DDF7A6}"/>
              </a:ext>
            </a:extLst>
          </p:cNvPr>
          <p:cNvCxnSpPr>
            <a:cxnSpLocks/>
          </p:cNvCxnSpPr>
          <p:nvPr/>
        </p:nvCxnSpPr>
        <p:spPr>
          <a:xfrm flipV="1">
            <a:off x="5487036" y="3570076"/>
            <a:ext cx="1412383" cy="581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894522B-3062-BA9A-2B73-E4868BFFB402}"/>
              </a:ext>
            </a:extLst>
          </p:cNvPr>
          <p:cNvCxnSpPr>
            <a:cxnSpLocks/>
          </p:cNvCxnSpPr>
          <p:nvPr/>
        </p:nvCxnSpPr>
        <p:spPr>
          <a:xfrm>
            <a:off x="9366967" y="3570076"/>
            <a:ext cx="711368" cy="581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61AFAF8-A450-C497-D68E-08C7E9D5D2A7}"/>
              </a:ext>
            </a:extLst>
          </p:cNvPr>
          <p:cNvSpPr txBox="1"/>
          <p:nvPr/>
        </p:nvSpPr>
        <p:spPr>
          <a:xfrm>
            <a:off x="7924010" y="3200744"/>
            <a:ext cx="1442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边缘服务器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B166B7-8156-AE7F-725E-922455C1E597}"/>
              </a:ext>
            </a:extLst>
          </p:cNvPr>
          <p:cNvSpPr txBox="1"/>
          <p:nvPr/>
        </p:nvSpPr>
        <p:spPr>
          <a:xfrm>
            <a:off x="10078335" y="4284244"/>
            <a:ext cx="1161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管理系统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3E6FE56-3DDA-8C9F-91B2-7F6F5B3E9464}"/>
              </a:ext>
            </a:extLst>
          </p:cNvPr>
          <p:cNvCxnSpPr>
            <a:cxnSpLocks/>
          </p:cNvCxnSpPr>
          <p:nvPr/>
        </p:nvCxnSpPr>
        <p:spPr>
          <a:xfrm flipH="1">
            <a:off x="4803505" y="2534728"/>
            <a:ext cx="1" cy="2940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FF6D0D0-A06D-D92D-A91B-CE147FD79A5F}"/>
              </a:ext>
            </a:extLst>
          </p:cNvPr>
          <p:cNvCxnSpPr/>
          <p:nvPr/>
        </p:nvCxnSpPr>
        <p:spPr>
          <a:xfrm>
            <a:off x="7704962" y="2047420"/>
            <a:ext cx="0" cy="363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67402B6-4A17-645B-466B-A2EDE66684C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704963" y="2763954"/>
            <a:ext cx="0" cy="3452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57D7D3E2-EDEC-60EA-7646-A54D79E24F7D}"/>
              </a:ext>
            </a:extLst>
          </p:cNvPr>
          <p:cNvSpPr txBox="1"/>
          <p:nvPr/>
        </p:nvSpPr>
        <p:spPr>
          <a:xfrm>
            <a:off x="6305466" y="841313"/>
            <a:ext cx="33990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使用部署在仓库现场的边缘服务器进行处理，可以提高盘点系统的效率。但边缘服务器计算资源有限。</a:t>
            </a: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DFD702-3066-73D0-8E34-75C288107AC3}"/>
              </a:ext>
            </a:extLst>
          </p:cNvPr>
          <p:cNvSpPr txBox="1"/>
          <p:nvPr/>
        </p:nvSpPr>
        <p:spPr>
          <a:xfrm>
            <a:off x="300912" y="687896"/>
            <a:ext cx="615553" cy="549929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立体仓库堆叠货物盘点研究背景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341DC86-B527-B794-E442-196CE7DE74C8}"/>
              </a:ext>
            </a:extLst>
          </p:cNvPr>
          <p:cNvSpPr txBox="1"/>
          <p:nvPr/>
        </p:nvSpPr>
        <p:spPr>
          <a:xfrm>
            <a:off x="4229333" y="2819660"/>
            <a:ext cx="1184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改进模型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158FE44-4C0E-1DDE-E716-B443EC4E56B3}"/>
              </a:ext>
            </a:extLst>
          </p:cNvPr>
          <p:cNvCxnSpPr>
            <a:cxnSpLocks/>
          </p:cNvCxnSpPr>
          <p:nvPr/>
        </p:nvCxnSpPr>
        <p:spPr>
          <a:xfrm flipH="1">
            <a:off x="4803504" y="3147642"/>
            <a:ext cx="1" cy="2940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CEFC7E-A2EF-195D-07FD-683483F0842D}"/>
              </a:ext>
            </a:extLst>
          </p:cNvPr>
          <p:cNvSpPr txBox="1"/>
          <p:nvPr/>
        </p:nvSpPr>
        <p:spPr>
          <a:xfrm>
            <a:off x="5457729" y="6439776"/>
            <a:ext cx="127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580352-5591-4452-C41D-032BDE35D52B}"/>
              </a:ext>
            </a:extLst>
          </p:cNvPr>
          <p:cNvSpPr txBox="1"/>
          <p:nvPr/>
        </p:nvSpPr>
        <p:spPr>
          <a:xfrm>
            <a:off x="1189470" y="706438"/>
            <a:ext cx="36226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FFE382F-6662-84F3-ED5F-9FE890916B94}"/>
              </a:ext>
            </a:extLst>
          </p:cNvPr>
          <p:cNvSpPr/>
          <p:nvPr/>
        </p:nvSpPr>
        <p:spPr>
          <a:xfrm>
            <a:off x="2646522" y="842901"/>
            <a:ext cx="972152" cy="109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文本框 56">
            <a:extLst>
              <a:ext uri="{FF2B5EF4-FFF2-40B4-BE49-F238E27FC236}">
                <a16:creationId xmlns:a16="http://schemas.microsoft.com/office/drawing/2014/main" id="{19CDE4A8-1F58-D96D-C984-AB9635C4344F}"/>
              </a:ext>
            </a:extLst>
          </p:cNvPr>
          <p:cNvSpPr txBox="1"/>
          <p:nvPr/>
        </p:nvSpPr>
        <p:spPr>
          <a:xfrm>
            <a:off x="3821495" y="711444"/>
            <a:ext cx="7312637" cy="36933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提高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立体仓库系统堆叠货物盘点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的准确性和实时性</a:t>
            </a:r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5B2AE0-E3DC-E72E-D403-92F8E0555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3AAE752-BBEA-4126-C2C5-9E001EE59B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133450"/>
              </p:ext>
            </p:extLst>
          </p:nvPr>
        </p:nvGraphicFramePr>
        <p:xfrm>
          <a:off x="2777864" y="896110"/>
          <a:ext cx="6636267" cy="557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724685" imgH="6505485" progId="Visio.Drawing.15">
                  <p:embed/>
                </p:oleObj>
              </mc:Choice>
              <mc:Fallback>
                <p:oleObj name="Visio" r:id="rId3" imgW="7724685" imgH="6505485" progId="Visio.Drawing.15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3AAE752-BBEA-4126-C2C5-9E001EE59B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864" y="896110"/>
                        <a:ext cx="6636267" cy="5571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7805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现有的实例分割算法存在的问题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6953E0D5-CD4B-A3DC-EE73-4603BC5937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08" y="1021739"/>
            <a:ext cx="6385371" cy="510697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5969037-FD63-31AF-4FA1-270A252D5723}"/>
              </a:ext>
            </a:extLst>
          </p:cNvPr>
          <p:cNvSpPr txBox="1"/>
          <p:nvPr/>
        </p:nvSpPr>
        <p:spPr>
          <a:xfrm>
            <a:off x="615217" y="612472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YOLO11s-Seg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模型结构图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BACE86-A7A6-43A9-55A4-C598A3B9E5DA}"/>
              </a:ext>
            </a:extLst>
          </p:cNvPr>
          <p:cNvSpPr txBox="1"/>
          <p:nvPr/>
        </p:nvSpPr>
        <p:spPr>
          <a:xfrm>
            <a:off x="471307" y="664034"/>
            <a:ext cx="5854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现有的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YOLO11s-Seg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结合后处理模块进行货物统计</a:t>
            </a:r>
            <a:endParaRPr lang="zh-CN" altLang="en-US" sz="20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619622B-A967-66D2-B3FA-E9532A01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148" y="2268855"/>
            <a:ext cx="1752600" cy="23202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B8524A2-F584-3582-4380-4711AEC1D312}"/>
              </a:ext>
            </a:extLst>
          </p:cNvPr>
          <p:cNvCxnSpPr>
            <a:stCxn id="6" idx="3"/>
          </p:cNvCxnSpPr>
          <p:nvPr/>
        </p:nvCxnSpPr>
        <p:spPr>
          <a:xfrm>
            <a:off x="6856679" y="3575228"/>
            <a:ext cx="2217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B7E3851-7E07-2130-C2C2-0DE8C2522AE4}"/>
              </a:ext>
            </a:extLst>
          </p:cNvPr>
          <p:cNvSpPr txBox="1"/>
          <p:nvPr/>
        </p:nvSpPr>
        <p:spPr>
          <a:xfrm>
            <a:off x="7255588" y="3161533"/>
            <a:ext cx="194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检测精度不足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本文提出新的实例分割算法</a:t>
            </a:r>
            <a:endParaRPr lang="zh-CN" altLang="en-US" dirty="0"/>
          </a:p>
        </p:txBody>
      </p:sp>
      <p:pic>
        <p:nvPicPr>
          <p:cNvPr id="3" name="图片 2" descr="图形用户界面, 图示&#10;&#10;AI 生成的内容可能不正确。">
            <a:extLst>
              <a:ext uri="{FF2B5EF4-FFF2-40B4-BE49-F238E27FC236}">
                <a16:creationId xmlns:a16="http://schemas.microsoft.com/office/drawing/2014/main" id="{60848B66-F66C-CDEA-C28F-5211C12572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63" y="784129"/>
            <a:ext cx="6313335" cy="502884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088878B-008A-CC47-78E0-28CAB978788C}"/>
              </a:ext>
            </a:extLst>
          </p:cNvPr>
          <p:cNvSpPr txBox="1"/>
          <p:nvPr/>
        </p:nvSpPr>
        <p:spPr>
          <a:xfrm>
            <a:off x="354432" y="5980249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YOLO11-StackLite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You Only Look Once for Stacked Warehouse Lightweight Segmentation Network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结构示意图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3FDDC5-4D8A-18F7-A70F-9ECC88B55DA3}"/>
              </a:ext>
            </a:extLst>
          </p:cNvPr>
          <p:cNvSpPr txBox="1"/>
          <p:nvPr/>
        </p:nvSpPr>
        <p:spPr>
          <a:xfrm>
            <a:off x="6732473" y="1845401"/>
            <a:ext cx="5304016" cy="377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我们以 </a:t>
            </a:r>
            <a:r>
              <a:rPr lang="en-US" altLang="zh-CN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YOLO11-Seg </a:t>
            </a: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为基线，提出了 </a:t>
            </a:r>
            <a:r>
              <a:rPr lang="en-US" altLang="zh-CN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YOLO11-StackLite</a:t>
            </a: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。为了应对堆叠货物遮挡严重、纹理重复的问题，我们从三个维度进行了针对性改进。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设计了通道拆分注意力模块 </a:t>
            </a:r>
            <a:r>
              <a:rPr lang="en-US" altLang="zh-CN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C2SASA </a:t>
            </a: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强化关键区域建模；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其次引入了重排分组卷积 </a:t>
            </a:r>
            <a:r>
              <a:rPr lang="en-US" altLang="zh-CN" b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SSConv</a:t>
            </a:r>
            <a:r>
              <a:rPr lang="en-US" altLang="zh-CN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进行轻量化特征下采样；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最后提出了四向卷积模块 </a:t>
            </a:r>
            <a:r>
              <a:rPr lang="en-US" altLang="zh-CN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C3k2_QDConv</a:t>
            </a:r>
            <a:r>
              <a:rPr lang="zh-CN" altLang="en-US" b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，有效提升模型对粘连边界的方向性特征捕捉能力。</a:t>
            </a:r>
          </a:p>
        </p:txBody>
      </p:sp>
    </p:spTree>
    <p:extLst>
      <p:ext uri="{BB962C8B-B14F-4D97-AF65-F5344CB8AC3E}">
        <p14:creationId xmlns:p14="http://schemas.microsoft.com/office/powerpoint/2010/main" val="257329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6028DD1-53BC-8260-26CA-EE90CD67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ABE4-E118-4913-A306-6F8695349AD0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9C7430-0687-C1A4-41EE-1064496375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关键模块设计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7D71658-1A94-6611-88CF-319EB03688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497810"/>
              </p:ext>
            </p:extLst>
          </p:nvPr>
        </p:nvGraphicFramePr>
        <p:xfrm>
          <a:off x="1332207" y="562887"/>
          <a:ext cx="2654140" cy="2976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581585" imgH="5277077" progId="Visio.Drawing.15">
                  <p:embed/>
                </p:oleObj>
              </mc:Choice>
              <mc:Fallback>
                <p:oleObj name="Visio" r:id="rId2" imgW="4581585" imgH="5277077" progId="Visio.Drawing.15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DC838BD-1A4C-3C4A-BD52-1228B41925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207" y="562887"/>
                        <a:ext cx="2654140" cy="29761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E8DD1EA-57EF-CFA9-6CAD-FE86D8DF5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88965"/>
              </p:ext>
            </p:extLst>
          </p:nvPr>
        </p:nvGraphicFramePr>
        <p:xfrm>
          <a:off x="523332" y="3729437"/>
          <a:ext cx="2135945" cy="2924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24030" imgH="3610046" progId="Visio.Drawing.15">
                  <p:embed/>
                </p:oleObj>
              </mc:Choice>
              <mc:Fallback>
                <p:oleObj name="Visio" r:id="rId4" imgW="2724030" imgH="3610046" progId="Visio.Drawing.15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4BD700F-47A0-9437-1EBE-1669C3C44A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32" y="3729437"/>
                        <a:ext cx="2135945" cy="29249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D005F38-E05A-F141-4B7F-EA9C9B96DD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218888"/>
              </p:ext>
            </p:extLst>
          </p:nvPr>
        </p:nvGraphicFramePr>
        <p:xfrm>
          <a:off x="3132027" y="3855367"/>
          <a:ext cx="2582142" cy="2678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286089" imgH="3410064" progId="Visio.Drawing.15">
                  <p:embed/>
                </p:oleObj>
              </mc:Choice>
              <mc:Fallback>
                <p:oleObj name="Visio" r:id="rId6" imgW="3286089" imgH="3410064" progId="Visio.Drawing.15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4A9575A-90B7-77FD-2905-7DDF66447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027" y="3855367"/>
                        <a:ext cx="2582142" cy="26784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3440DF1E-1D51-EE13-1D47-4F0FD0C27217}"/>
              </a:ext>
            </a:extLst>
          </p:cNvPr>
          <p:cNvSpPr txBox="1"/>
          <p:nvPr/>
        </p:nvSpPr>
        <p:spPr>
          <a:xfrm>
            <a:off x="1783330" y="3495187"/>
            <a:ext cx="31785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选择性激活抑制注意力机制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SASA</a:t>
            </a:r>
            <a:endParaRPr lang="zh-CN" alt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DBFA6C-DAC9-26FD-73FA-8374BA7315B4}"/>
              </a:ext>
            </a:extLst>
          </p:cNvPr>
          <p:cNvSpPr txBox="1"/>
          <p:nvPr/>
        </p:nvSpPr>
        <p:spPr>
          <a:xfrm>
            <a:off x="909969" y="6545439"/>
            <a:ext cx="2582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重排分组卷积模块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SSConv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1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4C74D3-62C5-0D51-7E78-123EBCD8289E}"/>
              </a:ext>
            </a:extLst>
          </p:cNvPr>
          <p:cNvSpPr txBox="1"/>
          <p:nvPr/>
        </p:nvSpPr>
        <p:spPr>
          <a:xfrm>
            <a:off x="3500790" y="6550223"/>
            <a:ext cx="21110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四向卷积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QDConv</a:t>
            </a:r>
            <a:endParaRPr lang="zh-CN" altLang="en-US" sz="1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05AB5A-F826-7B9E-157D-2F680F668034}"/>
              </a:ext>
            </a:extLst>
          </p:cNvPr>
          <p:cNvSpPr txBox="1"/>
          <p:nvPr/>
        </p:nvSpPr>
        <p:spPr>
          <a:xfrm>
            <a:off x="6599853" y="1320847"/>
            <a:ext cx="5380653" cy="503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C2SASA</a:t>
            </a:r>
            <a:r>
              <a:rPr lang="zh-CN" altLang="en-US" b="1" dirty="0"/>
              <a:t>：通道拆分注意力模块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只对部分通道执行注意力增强。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减少重复纹理和背景干扰。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提升顶层箱体与层间交界区域区分能力。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/>
              <a:t>SSConv</a:t>
            </a:r>
            <a:r>
              <a:rPr lang="zh-CN" altLang="en-US" b="1" dirty="0"/>
              <a:t>：重排分组卷积模块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通道拆分 </a:t>
            </a:r>
            <a:r>
              <a:rPr lang="en-US" altLang="zh-CN" dirty="0"/>
              <a:t>+ </a:t>
            </a:r>
            <a:r>
              <a:rPr lang="zh-CN" altLang="en-US" dirty="0"/>
              <a:t>分组卷积 </a:t>
            </a:r>
            <a:r>
              <a:rPr lang="en-US" altLang="zh-CN" dirty="0"/>
              <a:t>+ </a:t>
            </a:r>
            <a:r>
              <a:rPr lang="zh-CN" altLang="en-US" dirty="0"/>
              <a:t>逐点卷积 </a:t>
            </a:r>
            <a:r>
              <a:rPr lang="en-US" altLang="zh-CN" dirty="0"/>
              <a:t>+ </a:t>
            </a:r>
            <a:r>
              <a:rPr lang="zh-CN" altLang="en-US" dirty="0"/>
              <a:t>标准卷积分支。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降低 </a:t>
            </a:r>
            <a:r>
              <a:rPr lang="en-US" altLang="zh-CN" dirty="0"/>
              <a:t>Neck </a:t>
            </a:r>
            <a:r>
              <a:rPr lang="zh-CN" altLang="en-US" dirty="0"/>
              <a:t>下采样计算量。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保留箱体边界、角点和局部结构。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C3k2_QDConv</a:t>
            </a:r>
            <a:r>
              <a:rPr lang="zh-CN" altLang="en-US" b="1" dirty="0"/>
              <a:t>：四向卷积模块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引入水平、垂直方向的非对称卷积和位移分支。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强化规则箱体边缘和层间分界线。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减少掩膜粘连和边界缺损。</a:t>
            </a:r>
          </a:p>
        </p:txBody>
      </p:sp>
    </p:spTree>
    <p:extLst>
      <p:ext uri="{BB962C8B-B14F-4D97-AF65-F5344CB8AC3E}">
        <p14:creationId xmlns:p14="http://schemas.microsoft.com/office/powerpoint/2010/main" val="2105379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后处理计数算法的具体实现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0F6B8D-717C-E982-048D-3E14C9DA3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6" y="769171"/>
            <a:ext cx="1624137" cy="2075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4777E3D-9DEC-C319-314A-99AF8037D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3" y="769171"/>
            <a:ext cx="1517364" cy="20752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28B7BFF-157B-EF9D-0174-B264A5D92A09}"/>
              </a:ext>
            </a:extLst>
          </p:cNvPr>
          <p:cNvSpPr txBox="1"/>
          <p:nvPr/>
        </p:nvSpPr>
        <p:spPr>
          <a:xfrm>
            <a:off x="307569" y="2907190"/>
            <a:ext cx="310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kern="100" dirty="0"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图像标注示例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DDE5093-CBD2-DF82-75F9-A6805BC1D7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635983"/>
              </p:ext>
            </p:extLst>
          </p:nvPr>
        </p:nvGraphicFramePr>
        <p:xfrm>
          <a:off x="3664646" y="995015"/>
          <a:ext cx="5207995" cy="4435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391083" imgH="5467401" progId="Visio.Drawing.15">
                  <p:embed/>
                </p:oleObj>
              </mc:Choice>
              <mc:Fallback>
                <p:oleObj name="Visio" r:id="rId4" imgW="6391083" imgH="5467401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646" y="995015"/>
                        <a:ext cx="5207995" cy="4435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26D07B9C-234F-F312-2E33-CD1476B657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8" y="3953351"/>
            <a:ext cx="1644188" cy="211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6BA54B5-7307-5610-FE8D-23757CE9C8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847" y="3949859"/>
            <a:ext cx="1510030" cy="211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B4CE482-AAF9-50B0-35BB-41C22150CA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641" y="655403"/>
            <a:ext cx="1905507" cy="2585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31E4902-A8E3-DE1B-260D-151DD28A6D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808" y="3903654"/>
            <a:ext cx="1984676" cy="25700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2F721BC-B381-FF89-8217-0D036221B15E}"/>
              </a:ext>
            </a:extLst>
          </p:cNvPr>
          <p:cNvSpPr txBox="1"/>
          <p:nvPr/>
        </p:nvSpPr>
        <p:spPr>
          <a:xfrm>
            <a:off x="8348566" y="6444018"/>
            <a:ext cx="3389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目标掩膜凸包点和关键点示意图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616999-93DD-13E2-EB91-ADEEE7FCD59B}"/>
              </a:ext>
            </a:extLst>
          </p:cNvPr>
          <p:cNvSpPr txBox="1"/>
          <p:nvPr/>
        </p:nvSpPr>
        <p:spPr>
          <a:xfrm>
            <a:off x="9245833" y="3240780"/>
            <a:ext cx="1280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顶层不满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856185-23E9-FFC7-25A8-A13A6241DA0C}"/>
              </a:ext>
            </a:extLst>
          </p:cNvPr>
          <p:cNvSpPr txBox="1"/>
          <p:nvPr/>
        </p:nvSpPr>
        <p:spPr>
          <a:xfrm>
            <a:off x="2400122" y="6143675"/>
            <a:ext cx="898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顶层满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3EC2F94-A7EC-BC7E-FC6D-AD9D0747E092}"/>
              </a:ext>
            </a:extLst>
          </p:cNvPr>
          <p:cNvSpPr txBox="1"/>
          <p:nvPr/>
        </p:nvSpPr>
        <p:spPr>
          <a:xfrm>
            <a:off x="307569" y="6143675"/>
            <a:ext cx="1635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缺乏顶层信息</a:t>
            </a:r>
            <a:endParaRPr lang="zh-CN" altLang="en-US" dirty="0"/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604DF3D8-68B6-E278-3E8A-A3AC89C4D82B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1038282" y="3840461"/>
            <a:ext cx="2805930" cy="1128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F6B5D97C-CB5C-5C56-A4D9-97AD5A8A249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96455" y="2755050"/>
            <a:ext cx="2390643" cy="8040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0FFD995-D92A-38CA-EB23-4A3163245AAF}"/>
              </a:ext>
            </a:extLst>
          </p:cNvPr>
          <p:cNvCxnSpPr>
            <a:stCxn id="20" idx="2"/>
            <a:endCxn id="16" idx="0"/>
          </p:cNvCxnSpPr>
          <p:nvPr/>
        </p:nvCxnSpPr>
        <p:spPr>
          <a:xfrm>
            <a:off x="9886146" y="3610112"/>
            <a:ext cx="0" cy="293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394BE6C-ABD5-87F1-E13E-DF2AC64A082B}"/>
              </a:ext>
            </a:extLst>
          </p:cNvPr>
          <p:cNvCxnSpPr/>
          <p:nvPr/>
        </p:nvCxnSpPr>
        <p:spPr>
          <a:xfrm flipH="1">
            <a:off x="3608877" y="4525347"/>
            <a:ext cx="347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50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483C5A-7936-E3F2-5F12-62949FBA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ABE4-E118-4913-A306-6F8695349AD0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F5B119-97FF-FFED-5213-A7B32C0D0C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面向边缘部署的轻量化压缩路线</a:t>
            </a:r>
          </a:p>
        </p:txBody>
      </p:sp>
      <p:grpSp>
        <p:nvGrpSpPr>
          <p:cNvPr id="14" name="Group 71964">
            <a:extLst>
              <a:ext uri="{FF2B5EF4-FFF2-40B4-BE49-F238E27FC236}">
                <a16:creationId xmlns:a16="http://schemas.microsoft.com/office/drawing/2014/main" id="{E4D4EC89-6CC6-ED36-4005-857090FD26A3}"/>
              </a:ext>
            </a:extLst>
          </p:cNvPr>
          <p:cNvGrpSpPr/>
          <p:nvPr/>
        </p:nvGrpSpPr>
        <p:grpSpPr>
          <a:xfrm>
            <a:off x="2901820" y="970383"/>
            <a:ext cx="6238682" cy="3125754"/>
            <a:chOff x="0" y="0"/>
            <a:chExt cx="3845924" cy="1870808"/>
          </a:xfrm>
        </p:grpSpPr>
        <p:sp>
          <p:nvSpPr>
            <p:cNvPr id="15" name="Shape 4216">
              <a:extLst>
                <a:ext uri="{FF2B5EF4-FFF2-40B4-BE49-F238E27FC236}">
                  <a16:creationId xmlns:a16="http://schemas.microsoft.com/office/drawing/2014/main" id="{B04E8931-9DF2-30AD-7A5E-D11E8DB10094}"/>
                </a:ext>
              </a:extLst>
            </p:cNvPr>
            <p:cNvSpPr/>
            <p:nvPr/>
          </p:nvSpPr>
          <p:spPr>
            <a:xfrm>
              <a:off x="0" y="0"/>
              <a:ext cx="1037604" cy="360004"/>
            </a:xfrm>
            <a:custGeom>
              <a:avLst/>
              <a:gdLst/>
              <a:ahLst/>
              <a:cxnLst/>
              <a:rect l="0" t="0" r="0" b="0"/>
              <a:pathLst>
                <a:path w="1037604" h="360004">
                  <a:moveTo>
                    <a:pt x="0" y="360004"/>
                  </a:moveTo>
                  <a:lnTo>
                    <a:pt x="1037604" y="360004"/>
                  </a:lnTo>
                  <a:lnTo>
                    <a:pt x="1037604" y="0"/>
                  </a:lnTo>
                  <a:lnTo>
                    <a:pt x="0" y="0"/>
                  </a:lnTo>
                  <a:close/>
                </a:path>
              </a:pathLst>
            </a:custGeom>
            <a:ln w="5061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Rectangle 4217">
              <a:extLst>
                <a:ext uri="{FF2B5EF4-FFF2-40B4-BE49-F238E27FC236}">
                  <a16:creationId xmlns:a16="http://schemas.microsoft.com/office/drawing/2014/main" id="{DE744870-D86C-07F1-B25F-9AF3CA0D2CFF}"/>
                </a:ext>
              </a:extLst>
            </p:cNvPr>
            <p:cNvSpPr/>
            <p:nvPr/>
          </p:nvSpPr>
          <p:spPr>
            <a:xfrm>
              <a:off x="33820" y="106306"/>
              <a:ext cx="1100668" cy="1773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zh-CN" sz="2000" kern="100" spc="45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pitchFamily="34" charset="-122"/>
                </a:rPr>
                <a:t>教师模型训练</a:t>
              </a:r>
              <a:endParaRPr 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Shape 4218">
              <a:extLst>
                <a:ext uri="{FF2B5EF4-FFF2-40B4-BE49-F238E27FC236}">
                  <a16:creationId xmlns:a16="http://schemas.microsoft.com/office/drawing/2014/main" id="{B43AD134-248E-172C-1268-6416A7A92D0F}"/>
                </a:ext>
              </a:extLst>
            </p:cNvPr>
            <p:cNvSpPr/>
            <p:nvPr/>
          </p:nvSpPr>
          <p:spPr>
            <a:xfrm>
              <a:off x="1368018" y="0"/>
              <a:ext cx="1037604" cy="360004"/>
            </a:xfrm>
            <a:custGeom>
              <a:avLst/>
              <a:gdLst/>
              <a:ahLst/>
              <a:cxnLst/>
              <a:rect l="0" t="0" r="0" b="0"/>
              <a:pathLst>
                <a:path w="1037604" h="360004">
                  <a:moveTo>
                    <a:pt x="0" y="360004"/>
                  </a:moveTo>
                  <a:lnTo>
                    <a:pt x="1037604" y="360004"/>
                  </a:lnTo>
                  <a:lnTo>
                    <a:pt x="1037604" y="0"/>
                  </a:lnTo>
                  <a:lnTo>
                    <a:pt x="0" y="0"/>
                  </a:lnTo>
                  <a:close/>
                </a:path>
              </a:pathLst>
            </a:custGeom>
            <a:ln w="5061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Rectangle 4219">
              <a:extLst>
                <a:ext uri="{FF2B5EF4-FFF2-40B4-BE49-F238E27FC236}">
                  <a16:creationId xmlns:a16="http://schemas.microsoft.com/office/drawing/2014/main" id="{53CB8948-C226-2A78-5AC2-07739B18CAD0}"/>
                </a:ext>
              </a:extLst>
            </p:cNvPr>
            <p:cNvSpPr/>
            <p:nvPr/>
          </p:nvSpPr>
          <p:spPr>
            <a:xfrm>
              <a:off x="1528120" y="86983"/>
              <a:ext cx="780364" cy="1773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zh-CN" sz="2000" kern="100" spc="14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pitchFamily="34" charset="-122"/>
                </a:rPr>
                <a:t>稀疏训练</a:t>
              </a:r>
              <a:endParaRPr 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Shape 4220">
              <a:extLst>
                <a:ext uri="{FF2B5EF4-FFF2-40B4-BE49-F238E27FC236}">
                  <a16:creationId xmlns:a16="http://schemas.microsoft.com/office/drawing/2014/main" id="{50AB6138-98F8-035B-73CD-CA01D5B52313}"/>
                </a:ext>
              </a:extLst>
            </p:cNvPr>
            <p:cNvSpPr/>
            <p:nvPr/>
          </p:nvSpPr>
          <p:spPr>
            <a:xfrm>
              <a:off x="2736036" y="0"/>
              <a:ext cx="1037604" cy="360004"/>
            </a:xfrm>
            <a:custGeom>
              <a:avLst/>
              <a:gdLst/>
              <a:ahLst/>
              <a:cxnLst/>
              <a:rect l="0" t="0" r="0" b="0"/>
              <a:pathLst>
                <a:path w="1037604" h="360004">
                  <a:moveTo>
                    <a:pt x="0" y="360004"/>
                  </a:moveTo>
                  <a:lnTo>
                    <a:pt x="1037604" y="360004"/>
                  </a:lnTo>
                  <a:lnTo>
                    <a:pt x="1037604" y="0"/>
                  </a:lnTo>
                  <a:lnTo>
                    <a:pt x="0" y="0"/>
                  </a:lnTo>
                  <a:close/>
                </a:path>
              </a:pathLst>
            </a:custGeom>
            <a:ln w="5061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Rectangle 4221">
              <a:extLst>
                <a:ext uri="{FF2B5EF4-FFF2-40B4-BE49-F238E27FC236}">
                  <a16:creationId xmlns:a16="http://schemas.microsoft.com/office/drawing/2014/main" id="{74E8A6E7-2D8B-A77B-DBC3-FB4656CB4AF5}"/>
                </a:ext>
              </a:extLst>
            </p:cNvPr>
            <p:cNvSpPr/>
            <p:nvPr/>
          </p:nvSpPr>
          <p:spPr>
            <a:xfrm>
              <a:off x="2898668" y="113264"/>
              <a:ext cx="947256" cy="1773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zh-CN" sz="2000" kern="100" spc="9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pitchFamily="34" charset="-122"/>
                </a:rPr>
                <a:t>结构化裁剪</a:t>
              </a:r>
              <a:endParaRPr lang="zh-CN" sz="24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Shape 4222">
              <a:extLst>
                <a:ext uri="{FF2B5EF4-FFF2-40B4-BE49-F238E27FC236}">
                  <a16:creationId xmlns:a16="http://schemas.microsoft.com/office/drawing/2014/main" id="{BCB39945-6D2E-F6AE-1D1D-123BB0D7B2E1}"/>
                </a:ext>
              </a:extLst>
            </p:cNvPr>
            <p:cNvSpPr/>
            <p:nvPr/>
          </p:nvSpPr>
          <p:spPr>
            <a:xfrm>
              <a:off x="2736036" y="864009"/>
              <a:ext cx="1037604" cy="360004"/>
            </a:xfrm>
            <a:custGeom>
              <a:avLst/>
              <a:gdLst/>
              <a:ahLst/>
              <a:cxnLst/>
              <a:rect l="0" t="0" r="0" b="0"/>
              <a:pathLst>
                <a:path w="1037604" h="360004">
                  <a:moveTo>
                    <a:pt x="0" y="360004"/>
                  </a:moveTo>
                  <a:lnTo>
                    <a:pt x="1037604" y="360004"/>
                  </a:lnTo>
                  <a:lnTo>
                    <a:pt x="1037604" y="0"/>
                  </a:lnTo>
                  <a:lnTo>
                    <a:pt x="0" y="0"/>
                  </a:lnTo>
                  <a:close/>
                </a:path>
              </a:pathLst>
            </a:custGeom>
            <a:ln w="5061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Rectangle 4223">
              <a:extLst>
                <a:ext uri="{FF2B5EF4-FFF2-40B4-BE49-F238E27FC236}">
                  <a16:creationId xmlns:a16="http://schemas.microsoft.com/office/drawing/2014/main" id="{35D85B94-153C-B245-BADB-49CCDE7B28EF}"/>
                </a:ext>
              </a:extLst>
            </p:cNvPr>
            <p:cNvSpPr/>
            <p:nvPr/>
          </p:nvSpPr>
          <p:spPr>
            <a:xfrm>
              <a:off x="2961444" y="977473"/>
              <a:ext cx="780364" cy="1773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zh-CN" sz="2000" kern="100" spc="14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pitchFamily="34" charset="-122"/>
                </a:rPr>
                <a:t>微调恢复</a:t>
              </a:r>
              <a:endParaRPr lang="zh-CN" sz="24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Shape 4224">
              <a:extLst>
                <a:ext uri="{FF2B5EF4-FFF2-40B4-BE49-F238E27FC236}">
                  <a16:creationId xmlns:a16="http://schemas.microsoft.com/office/drawing/2014/main" id="{E52B74CF-5C52-1C7C-09FC-B5823BBE2B46}"/>
                </a:ext>
              </a:extLst>
            </p:cNvPr>
            <p:cNvSpPr/>
            <p:nvPr/>
          </p:nvSpPr>
          <p:spPr>
            <a:xfrm>
              <a:off x="1368018" y="864009"/>
              <a:ext cx="1037604" cy="360004"/>
            </a:xfrm>
            <a:custGeom>
              <a:avLst/>
              <a:gdLst/>
              <a:ahLst/>
              <a:cxnLst/>
              <a:rect l="0" t="0" r="0" b="0"/>
              <a:pathLst>
                <a:path w="1037604" h="360004">
                  <a:moveTo>
                    <a:pt x="0" y="360004"/>
                  </a:moveTo>
                  <a:lnTo>
                    <a:pt x="1037604" y="360004"/>
                  </a:lnTo>
                  <a:lnTo>
                    <a:pt x="1037604" y="0"/>
                  </a:lnTo>
                  <a:lnTo>
                    <a:pt x="0" y="0"/>
                  </a:lnTo>
                  <a:close/>
                </a:path>
              </a:pathLst>
            </a:custGeom>
            <a:ln w="5061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Rectangle 4225">
              <a:extLst>
                <a:ext uri="{FF2B5EF4-FFF2-40B4-BE49-F238E27FC236}">
                  <a16:creationId xmlns:a16="http://schemas.microsoft.com/office/drawing/2014/main" id="{FACDC780-8ED0-10DD-266C-C3471656780F}"/>
                </a:ext>
              </a:extLst>
            </p:cNvPr>
            <p:cNvSpPr/>
            <p:nvPr/>
          </p:nvSpPr>
          <p:spPr>
            <a:xfrm>
              <a:off x="1555956" y="949514"/>
              <a:ext cx="780364" cy="1773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zh-CN" sz="2000" kern="100" spc="14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pitchFamily="34" charset="-122"/>
                </a:rPr>
                <a:t>蒸馏增强</a:t>
              </a:r>
              <a:endParaRPr 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Shape 4226">
              <a:extLst>
                <a:ext uri="{FF2B5EF4-FFF2-40B4-BE49-F238E27FC236}">
                  <a16:creationId xmlns:a16="http://schemas.microsoft.com/office/drawing/2014/main" id="{DA3CB6F7-956F-6F5B-0F24-EAD877B5EC65}"/>
                </a:ext>
              </a:extLst>
            </p:cNvPr>
            <p:cNvSpPr/>
            <p:nvPr/>
          </p:nvSpPr>
          <p:spPr>
            <a:xfrm>
              <a:off x="0" y="864009"/>
              <a:ext cx="1037604" cy="360004"/>
            </a:xfrm>
            <a:custGeom>
              <a:avLst/>
              <a:gdLst/>
              <a:ahLst/>
              <a:cxnLst/>
              <a:rect l="0" t="0" r="0" b="0"/>
              <a:pathLst>
                <a:path w="1037604" h="360004">
                  <a:moveTo>
                    <a:pt x="0" y="360004"/>
                  </a:moveTo>
                  <a:lnTo>
                    <a:pt x="1037604" y="360004"/>
                  </a:lnTo>
                  <a:lnTo>
                    <a:pt x="1037604" y="0"/>
                  </a:lnTo>
                  <a:lnTo>
                    <a:pt x="0" y="0"/>
                  </a:lnTo>
                  <a:close/>
                </a:path>
              </a:pathLst>
            </a:custGeom>
            <a:ln w="5061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Rectangle 4227">
              <a:extLst>
                <a:ext uri="{FF2B5EF4-FFF2-40B4-BE49-F238E27FC236}">
                  <a16:creationId xmlns:a16="http://schemas.microsoft.com/office/drawing/2014/main" id="{12B4487B-E103-8B14-A4D9-A7C22837438F}"/>
                </a:ext>
              </a:extLst>
            </p:cNvPr>
            <p:cNvSpPr/>
            <p:nvPr/>
          </p:nvSpPr>
          <p:spPr>
            <a:xfrm>
              <a:off x="17370" y="960908"/>
              <a:ext cx="1100668" cy="1773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zh-CN" sz="2000" kern="100" spc="45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pitchFamily="34" charset="-122"/>
                </a:rPr>
                <a:t>压缩模型输出</a:t>
              </a:r>
              <a:endParaRPr 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Shape 4228">
              <a:extLst>
                <a:ext uri="{FF2B5EF4-FFF2-40B4-BE49-F238E27FC236}">
                  <a16:creationId xmlns:a16="http://schemas.microsoft.com/office/drawing/2014/main" id="{A3691C19-9E79-24AC-2440-841407F60CDC}"/>
                </a:ext>
              </a:extLst>
            </p:cNvPr>
            <p:cNvSpPr/>
            <p:nvPr/>
          </p:nvSpPr>
          <p:spPr>
            <a:xfrm>
              <a:off x="432006" y="1369231"/>
              <a:ext cx="2909627" cy="501577"/>
            </a:xfrm>
            <a:custGeom>
              <a:avLst/>
              <a:gdLst/>
              <a:ahLst/>
              <a:cxnLst/>
              <a:rect l="0" t="0" r="0" b="0"/>
              <a:pathLst>
                <a:path w="2909627" h="501577">
                  <a:moveTo>
                    <a:pt x="0" y="501577"/>
                  </a:moveTo>
                  <a:lnTo>
                    <a:pt x="2909627" y="501577"/>
                  </a:lnTo>
                  <a:lnTo>
                    <a:pt x="2909627" y="0"/>
                  </a:lnTo>
                  <a:lnTo>
                    <a:pt x="0" y="0"/>
                  </a:lnTo>
                  <a:close/>
                </a:path>
              </a:pathLst>
            </a:custGeom>
            <a:ln w="5061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Rectangle 4229">
              <a:extLst>
                <a:ext uri="{FF2B5EF4-FFF2-40B4-BE49-F238E27FC236}">
                  <a16:creationId xmlns:a16="http://schemas.microsoft.com/office/drawing/2014/main" id="{F8EE2CCB-CD79-CBAD-FB94-28FFBF7B377E}"/>
                </a:ext>
              </a:extLst>
            </p:cNvPr>
            <p:cNvSpPr/>
            <p:nvPr/>
          </p:nvSpPr>
          <p:spPr>
            <a:xfrm>
              <a:off x="930917" y="1416423"/>
              <a:ext cx="2665298" cy="1773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zh-CN" sz="2000" kern="100" spc="1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pitchFamily="34" charset="-122"/>
                </a:rPr>
                <a:t>任务导向压缩路线：识别冗余，</a:t>
              </a:r>
              <a:endParaRPr lang="zh-CN" sz="24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Rectangle 4230">
              <a:extLst>
                <a:ext uri="{FF2B5EF4-FFF2-40B4-BE49-F238E27FC236}">
                  <a16:creationId xmlns:a16="http://schemas.microsoft.com/office/drawing/2014/main" id="{7BEA2E97-544B-6EE2-D75C-7B5A80B56D83}"/>
                </a:ext>
              </a:extLst>
            </p:cNvPr>
            <p:cNvSpPr/>
            <p:nvPr/>
          </p:nvSpPr>
          <p:spPr>
            <a:xfrm>
              <a:off x="948722" y="1687593"/>
              <a:ext cx="2495215" cy="1773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zh-CN" sz="2000" kern="100" spc="10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pitchFamily="34" charset="-122"/>
                </a:rPr>
                <a:t>结构化裁剪，微调与蒸馏恢复</a:t>
              </a:r>
              <a:endParaRPr lang="zh-CN" sz="24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Shape 4231">
              <a:extLst>
                <a:ext uri="{FF2B5EF4-FFF2-40B4-BE49-F238E27FC236}">
                  <a16:creationId xmlns:a16="http://schemas.microsoft.com/office/drawing/2014/main" id="{B148865E-1318-B30E-A50A-8B98A3499A1C}"/>
                </a:ext>
              </a:extLst>
            </p:cNvPr>
            <p:cNvSpPr/>
            <p:nvPr/>
          </p:nvSpPr>
          <p:spPr>
            <a:xfrm>
              <a:off x="1040135" y="180002"/>
              <a:ext cx="266139" cy="0"/>
            </a:xfrm>
            <a:custGeom>
              <a:avLst/>
              <a:gdLst/>
              <a:ahLst/>
              <a:cxnLst/>
              <a:rect l="0" t="0" r="0" b="0"/>
              <a:pathLst>
                <a:path w="266139">
                  <a:moveTo>
                    <a:pt x="0" y="0"/>
                  </a:moveTo>
                  <a:lnTo>
                    <a:pt x="266139" y="0"/>
                  </a:lnTo>
                </a:path>
              </a:pathLst>
            </a:custGeom>
            <a:ln w="10122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Shape 4232">
              <a:extLst>
                <a:ext uri="{FF2B5EF4-FFF2-40B4-BE49-F238E27FC236}">
                  <a16:creationId xmlns:a16="http://schemas.microsoft.com/office/drawing/2014/main" id="{1898CB50-7DF4-A9E5-F3D1-2090754A9DDC}"/>
                </a:ext>
              </a:extLst>
            </p:cNvPr>
            <p:cNvSpPr/>
            <p:nvPr/>
          </p:nvSpPr>
          <p:spPr>
            <a:xfrm>
              <a:off x="1299695" y="155330"/>
              <a:ext cx="65793" cy="49344"/>
            </a:xfrm>
            <a:custGeom>
              <a:avLst/>
              <a:gdLst/>
              <a:ahLst/>
              <a:cxnLst/>
              <a:rect l="0" t="0" r="0" b="0"/>
              <a:pathLst>
                <a:path w="65793" h="49344">
                  <a:moveTo>
                    <a:pt x="0" y="0"/>
                  </a:moveTo>
                  <a:cubicBezTo>
                    <a:pt x="19738" y="11514"/>
                    <a:pt x="48248" y="21383"/>
                    <a:pt x="65793" y="24672"/>
                  </a:cubicBezTo>
                  <a:cubicBezTo>
                    <a:pt x="48248" y="27962"/>
                    <a:pt x="19738" y="37831"/>
                    <a:pt x="0" y="49344"/>
                  </a:cubicBez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Shape 4233">
              <a:extLst>
                <a:ext uri="{FF2B5EF4-FFF2-40B4-BE49-F238E27FC236}">
                  <a16:creationId xmlns:a16="http://schemas.microsoft.com/office/drawing/2014/main" id="{DC497AAF-E803-D99C-D172-B6292C00A1F1}"/>
                </a:ext>
              </a:extLst>
            </p:cNvPr>
            <p:cNvSpPr/>
            <p:nvPr/>
          </p:nvSpPr>
          <p:spPr>
            <a:xfrm>
              <a:off x="2408153" y="180002"/>
              <a:ext cx="266139" cy="0"/>
            </a:xfrm>
            <a:custGeom>
              <a:avLst/>
              <a:gdLst/>
              <a:ahLst/>
              <a:cxnLst/>
              <a:rect l="0" t="0" r="0" b="0"/>
              <a:pathLst>
                <a:path w="266139">
                  <a:moveTo>
                    <a:pt x="0" y="0"/>
                  </a:moveTo>
                  <a:lnTo>
                    <a:pt x="266139" y="0"/>
                  </a:lnTo>
                </a:path>
              </a:pathLst>
            </a:custGeom>
            <a:ln w="10122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3" name="Shape 4234">
              <a:extLst>
                <a:ext uri="{FF2B5EF4-FFF2-40B4-BE49-F238E27FC236}">
                  <a16:creationId xmlns:a16="http://schemas.microsoft.com/office/drawing/2014/main" id="{D631FD41-269E-4F0A-A4B8-2C9EF16D235D}"/>
                </a:ext>
              </a:extLst>
            </p:cNvPr>
            <p:cNvSpPr/>
            <p:nvPr/>
          </p:nvSpPr>
          <p:spPr>
            <a:xfrm>
              <a:off x="2667713" y="155330"/>
              <a:ext cx="65792" cy="49344"/>
            </a:xfrm>
            <a:custGeom>
              <a:avLst/>
              <a:gdLst/>
              <a:ahLst/>
              <a:cxnLst/>
              <a:rect l="0" t="0" r="0" b="0"/>
              <a:pathLst>
                <a:path w="65792" h="49344">
                  <a:moveTo>
                    <a:pt x="0" y="0"/>
                  </a:moveTo>
                  <a:cubicBezTo>
                    <a:pt x="19738" y="11514"/>
                    <a:pt x="48247" y="21383"/>
                    <a:pt x="65792" y="24672"/>
                  </a:cubicBezTo>
                  <a:cubicBezTo>
                    <a:pt x="48247" y="27962"/>
                    <a:pt x="19738" y="37831"/>
                    <a:pt x="0" y="49344"/>
                  </a:cubicBez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Shape 4235">
              <a:extLst>
                <a:ext uri="{FF2B5EF4-FFF2-40B4-BE49-F238E27FC236}">
                  <a16:creationId xmlns:a16="http://schemas.microsoft.com/office/drawing/2014/main" id="{3EF8DAA2-9B86-BAE5-4153-94FF800B72E1}"/>
                </a:ext>
              </a:extLst>
            </p:cNvPr>
            <p:cNvSpPr/>
            <p:nvPr/>
          </p:nvSpPr>
          <p:spPr>
            <a:xfrm>
              <a:off x="3254838" y="362535"/>
              <a:ext cx="0" cy="439730"/>
            </a:xfrm>
            <a:custGeom>
              <a:avLst/>
              <a:gdLst/>
              <a:ahLst/>
              <a:cxnLst/>
              <a:rect l="0" t="0" r="0" b="0"/>
              <a:pathLst>
                <a:path h="439730">
                  <a:moveTo>
                    <a:pt x="0" y="0"/>
                  </a:moveTo>
                  <a:lnTo>
                    <a:pt x="0" y="439730"/>
                  </a:lnTo>
                </a:path>
              </a:pathLst>
            </a:custGeom>
            <a:ln w="10122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" name="Shape 4236">
              <a:extLst>
                <a:ext uri="{FF2B5EF4-FFF2-40B4-BE49-F238E27FC236}">
                  <a16:creationId xmlns:a16="http://schemas.microsoft.com/office/drawing/2014/main" id="{6F328187-F895-DEDD-23EF-DE32C2DF8683}"/>
                </a:ext>
              </a:extLst>
            </p:cNvPr>
            <p:cNvSpPr/>
            <p:nvPr/>
          </p:nvSpPr>
          <p:spPr>
            <a:xfrm>
              <a:off x="3230166" y="795686"/>
              <a:ext cx="49344" cy="65793"/>
            </a:xfrm>
            <a:custGeom>
              <a:avLst/>
              <a:gdLst/>
              <a:ahLst/>
              <a:cxnLst/>
              <a:rect l="0" t="0" r="0" b="0"/>
              <a:pathLst>
                <a:path w="49344" h="65793">
                  <a:moveTo>
                    <a:pt x="0" y="0"/>
                  </a:moveTo>
                  <a:lnTo>
                    <a:pt x="49344" y="0"/>
                  </a:lnTo>
                  <a:cubicBezTo>
                    <a:pt x="37831" y="19738"/>
                    <a:pt x="27962" y="48248"/>
                    <a:pt x="24672" y="65793"/>
                  </a:cubicBezTo>
                  <a:cubicBezTo>
                    <a:pt x="21382" y="48248"/>
                    <a:pt x="11514" y="19738"/>
                    <a:pt x="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Shape 4237">
              <a:extLst>
                <a:ext uri="{FF2B5EF4-FFF2-40B4-BE49-F238E27FC236}">
                  <a16:creationId xmlns:a16="http://schemas.microsoft.com/office/drawing/2014/main" id="{55E8E289-926F-F3AE-A4CC-F6AED2ADFF36}"/>
                </a:ext>
              </a:extLst>
            </p:cNvPr>
            <p:cNvSpPr/>
            <p:nvPr/>
          </p:nvSpPr>
          <p:spPr>
            <a:xfrm>
              <a:off x="2467366" y="1044011"/>
              <a:ext cx="266139" cy="0"/>
            </a:xfrm>
            <a:custGeom>
              <a:avLst/>
              <a:gdLst/>
              <a:ahLst/>
              <a:cxnLst/>
              <a:rect l="0" t="0" r="0" b="0"/>
              <a:pathLst>
                <a:path w="266139">
                  <a:moveTo>
                    <a:pt x="266139" y="0"/>
                  </a:moveTo>
                  <a:lnTo>
                    <a:pt x="0" y="0"/>
                  </a:lnTo>
                </a:path>
              </a:pathLst>
            </a:custGeom>
            <a:ln w="10122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" name="Shape 4238">
              <a:extLst>
                <a:ext uri="{FF2B5EF4-FFF2-40B4-BE49-F238E27FC236}">
                  <a16:creationId xmlns:a16="http://schemas.microsoft.com/office/drawing/2014/main" id="{5F4ED74C-9CA3-13B6-0069-D0CF51720265}"/>
                </a:ext>
              </a:extLst>
            </p:cNvPr>
            <p:cNvSpPr/>
            <p:nvPr/>
          </p:nvSpPr>
          <p:spPr>
            <a:xfrm>
              <a:off x="2408153" y="1019339"/>
              <a:ext cx="65792" cy="49344"/>
            </a:xfrm>
            <a:custGeom>
              <a:avLst/>
              <a:gdLst/>
              <a:ahLst/>
              <a:cxnLst/>
              <a:rect l="0" t="0" r="0" b="0"/>
              <a:pathLst>
                <a:path w="65792" h="49344">
                  <a:moveTo>
                    <a:pt x="65792" y="0"/>
                  </a:moveTo>
                  <a:lnTo>
                    <a:pt x="65792" y="49344"/>
                  </a:lnTo>
                  <a:cubicBezTo>
                    <a:pt x="46055" y="37831"/>
                    <a:pt x="17545" y="27962"/>
                    <a:pt x="0" y="24672"/>
                  </a:cubicBezTo>
                  <a:cubicBezTo>
                    <a:pt x="17545" y="21383"/>
                    <a:pt x="46055" y="11514"/>
                    <a:pt x="65792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" name="Shape 4239">
              <a:extLst>
                <a:ext uri="{FF2B5EF4-FFF2-40B4-BE49-F238E27FC236}">
                  <a16:creationId xmlns:a16="http://schemas.microsoft.com/office/drawing/2014/main" id="{8E79F6BD-EBC4-56AB-F920-AA9BEBCD44CF}"/>
                </a:ext>
              </a:extLst>
            </p:cNvPr>
            <p:cNvSpPr/>
            <p:nvPr/>
          </p:nvSpPr>
          <p:spPr>
            <a:xfrm>
              <a:off x="1099348" y="1044011"/>
              <a:ext cx="266139" cy="0"/>
            </a:xfrm>
            <a:custGeom>
              <a:avLst/>
              <a:gdLst/>
              <a:ahLst/>
              <a:cxnLst/>
              <a:rect l="0" t="0" r="0" b="0"/>
              <a:pathLst>
                <a:path w="266139">
                  <a:moveTo>
                    <a:pt x="266139" y="0"/>
                  </a:moveTo>
                  <a:lnTo>
                    <a:pt x="0" y="0"/>
                  </a:lnTo>
                </a:path>
              </a:pathLst>
            </a:custGeom>
            <a:ln w="10122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Shape 4240">
              <a:extLst>
                <a:ext uri="{FF2B5EF4-FFF2-40B4-BE49-F238E27FC236}">
                  <a16:creationId xmlns:a16="http://schemas.microsoft.com/office/drawing/2014/main" id="{7A0F21E5-EE3D-F716-2661-FB0FE7248D36}"/>
                </a:ext>
              </a:extLst>
            </p:cNvPr>
            <p:cNvSpPr/>
            <p:nvPr/>
          </p:nvSpPr>
          <p:spPr>
            <a:xfrm>
              <a:off x="1040135" y="1019339"/>
              <a:ext cx="65793" cy="49344"/>
            </a:xfrm>
            <a:custGeom>
              <a:avLst/>
              <a:gdLst/>
              <a:ahLst/>
              <a:cxnLst/>
              <a:rect l="0" t="0" r="0" b="0"/>
              <a:pathLst>
                <a:path w="65793" h="49344">
                  <a:moveTo>
                    <a:pt x="65793" y="0"/>
                  </a:moveTo>
                  <a:lnTo>
                    <a:pt x="65793" y="49344"/>
                  </a:lnTo>
                  <a:cubicBezTo>
                    <a:pt x="46055" y="37831"/>
                    <a:pt x="17545" y="27962"/>
                    <a:pt x="0" y="24672"/>
                  </a:cubicBezTo>
                  <a:cubicBezTo>
                    <a:pt x="17545" y="21383"/>
                    <a:pt x="46055" y="11514"/>
                    <a:pt x="65793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Shape 4241">
              <a:extLst>
                <a:ext uri="{FF2B5EF4-FFF2-40B4-BE49-F238E27FC236}">
                  <a16:creationId xmlns:a16="http://schemas.microsoft.com/office/drawing/2014/main" id="{EB16B594-601B-B9BA-24AB-B14E2CE46716}"/>
                </a:ext>
              </a:extLst>
            </p:cNvPr>
            <p:cNvSpPr/>
            <p:nvPr/>
          </p:nvSpPr>
          <p:spPr>
            <a:xfrm>
              <a:off x="1886820" y="1226543"/>
              <a:ext cx="0" cy="80944"/>
            </a:xfrm>
            <a:custGeom>
              <a:avLst/>
              <a:gdLst/>
              <a:ahLst/>
              <a:cxnLst/>
              <a:rect l="0" t="0" r="0" b="0"/>
              <a:pathLst>
                <a:path h="80944">
                  <a:moveTo>
                    <a:pt x="0" y="0"/>
                  </a:moveTo>
                  <a:lnTo>
                    <a:pt x="0" y="80944"/>
                  </a:lnTo>
                </a:path>
              </a:pathLst>
            </a:custGeom>
            <a:ln w="10122" cap="flat">
              <a:miter lim="1270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" name="Shape 4242">
              <a:extLst>
                <a:ext uri="{FF2B5EF4-FFF2-40B4-BE49-F238E27FC236}">
                  <a16:creationId xmlns:a16="http://schemas.microsoft.com/office/drawing/2014/main" id="{BEC8FFE8-8BE4-70D5-2A7A-E56E481BA459}"/>
                </a:ext>
              </a:extLst>
            </p:cNvPr>
            <p:cNvSpPr/>
            <p:nvPr/>
          </p:nvSpPr>
          <p:spPr>
            <a:xfrm>
              <a:off x="1862148" y="1300908"/>
              <a:ext cx="49344" cy="65793"/>
            </a:xfrm>
            <a:custGeom>
              <a:avLst/>
              <a:gdLst/>
              <a:ahLst/>
              <a:cxnLst/>
              <a:rect l="0" t="0" r="0" b="0"/>
              <a:pathLst>
                <a:path w="49344" h="65793">
                  <a:moveTo>
                    <a:pt x="0" y="0"/>
                  </a:moveTo>
                  <a:lnTo>
                    <a:pt x="49344" y="0"/>
                  </a:lnTo>
                  <a:cubicBezTo>
                    <a:pt x="37831" y="19738"/>
                    <a:pt x="27962" y="48248"/>
                    <a:pt x="24672" y="65793"/>
                  </a:cubicBezTo>
                  <a:cubicBezTo>
                    <a:pt x="21382" y="48248"/>
                    <a:pt x="11514" y="19738"/>
                    <a:pt x="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4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9714984-6CD4-1240-E158-A1693F36E5F6}"/>
              </a:ext>
            </a:extLst>
          </p:cNvPr>
          <p:cNvSpPr txBox="1"/>
          <p:nvPr/>
        </p:nvSpPr>
        <p:spPr>
          <a:xfrm>
            <a:off x="3042948" y="4455485"/>
            <a:ext cx="6097554" cy="1711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A1C1F"/>
                </a:solidFill>
                <a:latin typeface="-apple-system"/>
              </a:rPr>
              <a:t>压缩目标：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降低 Params 和 GFLOPs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保持 box/mask mAP、DA、CA 稳定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得到真实紧凑结构，而不是仅产生稀疏权重</a:t>
            </a:r>
          </a:p>
        </p:txBody>
      </p:sp>
    </p:spTree>
    <p:extLst>
      <p:ext uri="{BB962C8B-B14F-4D97-AF65-F5344CB8AC3E}">
        <p14:creationId xmlns:p14="http://schemas.microsoft.com/office/powerpoint/2010/main" val="1273102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BF60CE-56DB-8056-B0A4-138D27B0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ABE4-E118-4913-A306-6F8695349AD0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BB086F-0BCF-1618-1D50-A7B2B7DF43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剪枝与蒸馏公式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DABEDD2-B90E-9A8F-994C-13C7D578655F}"/>
                  </a:ext>
                </a:extLst>
              </p:cNvPr>
              <p:cNvSpPr txBox="1"/>
              <p:nvPr/>
            </p:nvSpPr>
            <p:spPr>
              <a:xfrm>
                <a:off x="1220206" y="3418629"/>
                <a:ext cx="57521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𝐴𝑙𝑖𝑔𝑛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DABEDD2-B90E-9A8F-994C-13C7D5786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206" y="3418629"/>
                <a:ext cx="5752169" cy="276999"/>
              </a:xfrm>
              <a:prstGeom prst="rect">
                <a:avLst/>
              </a:prstGeom>
              <a:blipFill>
                <a:blip r:embed="rId2"/>
                <a:stretch>
                  <a:fillRect t="-26667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15597CD-5BEF-C17D-8FB5-2C6EEB55BE56}"/>
                  </a:ext>
                </a:extLst>
              </p:cNvPr>
              <p:cNvSpPr txBox="1"/>
              <p:nvPr/>
            </p:nvSpPr>
            <p:spPr>
              <a:xfrm>
                <a:off x="1208315" y="2446783"/>
                <a:ext cx="6097554" cy="411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𝑠𝑜𝑓𝑡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15597CD-5BEF-C17D-8FB5-2C6EEB55B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315" y="2446783"/>
                <a:ext cx="6097554" cy="411331"/>
              </a:xfrm>
              <a:prstGeom prst="rect">
                <a:avLst/>
              </a:prstGeom>
              <a:blipFill>
                <a:blip r:embed="rId3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6EC91CC9-94EF-57F0-7156-790F30211188}"/>
              </a:ext>
            </a:extLst>
          </p:cNvPr>
          <p:cNvSpPr txBox="1"/>
          <p:nvPr/>
        </p:nvSpPr>
        <p:spPr>
          <a:xfrm>
            <a:off x="3784767" y="1231930"/>
            <a:ext cx="1093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𝑠</a:t>
            </a:r>
            <a:r>
              <a:rPr lang="en-US" altLang="zh-CN" sz="1800" baseline="30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𝑙</a:t>
            </a:r>
            <a:r>
              <a:rPr lang="en-US" altLang="zh-CN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𝑖</a:t>
            </a:r>
            <a:r>
              <a:rPr lang="en-US" altLang="zh-CN" sz="18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 |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𝛾</a:t>
            </a:r>
            <a:r>
              <a:rPr lang="en-US" altLang="zh-CN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𝑖</a:t>
            </a:r>
            <a:r>
              <a:rPr lang="en-US" altLang="zh-CN" sz="1800" baseline="30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𝑙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4A80316-96B6-07E7-D314-A6E230A3EA39}"/>
                  </a:ext>
                </a:extLst>
              </p:cNvPr>
              <p:cNvSpPr txBox="1"/>
              <p:nvPr/>
            </p:nvSpPr>
            <p:spPr>
              <a:xfrm>
                <a:off x="6504872" y="1973325"/>
                <a:ext cx="6097554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𝑡𝑎𝑠𝑘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α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𝑠𝑜𝑓𝑡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β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𝑟𝑒𝑣𝑖𝑒𝑤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4A80316-96B6-07E7-D314-A6E230A3E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872" y="1973325"/>
                <a:ext cx="6097554" cy="39158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B59FF3F-95B9-28A8-0493-0360D62B7522}"/>
                  </a:ext>
                </a:extLst>
              </p:cNvPr>
              <p:cNvSpPr txBox="1"/>
              <p:nvPr/>
            </p:nvSpPr>
            <p:spPr>
              <a:xfrm>
                <a:off x="7366107" y="3206807"/>
                <a:ext cx="4375085" cy="411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𝑠𝑜𝑓𝑡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B59FF3F-95B9-28A8-0493-0360D62B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107" y="3206807"/>
                <a:ext cx="4375085" cy="411331"/>
              </a:xfrm>
              <a:prstGeom prst="rect">
                <a:avLst/>
              </a:prstGeom>
              <a:blipFill>
                <a:blip r:embed="rId5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F8A178F-EF17-38A1-B3E8-99C4D61B68DE}"/>
                  </a:ext>
                </a:extLst>
              </p:cNvPr>
              <p:cNvSpPr txBox="1"/>
              <p:nvPr/>
            </p:nvSpPr>
            <p:spPr>
              <a:xfrm>
                <a:off x="6972375" y="4788634"/>
                <a:ext cx="5162550" cy="628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𝑟𝑒𝑣𝑖𝑒𝑤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  <m:sup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ϕ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zh-CN" altLang="en-US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,…,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F8A178F-EF17-38A1-B3E8-99C4D61B6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375" y="4788634"/>
                <a:ext cx="5162550" cy="6281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A12359A8-DA7C-75F8-32DE-670ECA06835D}"/>
              </a:ext>
            </a:extLst>
          </p:cNvPr>
          <p:cNvSpPr txBox="1"/>
          <p:nvPr/>
        </p:nvSpPr>
        <p:spPr>
          <a:xfrm>
            <a:off x="619322" y="84857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剪枝公式：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FEBDF7-DB4D-574B-C7CA-6421EB3C07D4}"/>
              </a:ext>
            </a:extLst>
          </p:cNvPr>
          <p:cNvSpPr txBox="1"/>
          <p:nvPr/>
        </p:nvSpPr>
        <p:spPr>
          <a:xfrm>
            <a:off x="654312" y="168007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含义：用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BN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缩放因子衡量第 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ui-monospace"/>
              </a:rPr>
              <a:t>l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 层第 </a:t>
            </a:r>
            <a:r>
              <a:rPr lang="en-US" altLang="zh-CN" b="0" i="0" dirty="0" err="1">
                <a:solidFill>
                  <a:srgbClr val="1A1C1F"/>
                </a:solidFill>
                <a:effectLst/>
                <a:latin typeface="ui-monospace"/>
              </a:rPr>
              <a:t>i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 个通道的重要性。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A5D66F5-5DD2-2350-EA58-EDF7D38C67A0}"/>
              </a:ext>
            </a:extLst>
          </p:cNvPr>
          <p:cNvSpPr txBox="1"/>
          <p:nvPr/>
        </p:nvSpPr>
        <p:spPr>
          <a:xfrm>
            <a:off x="654312" y="206342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稀疏训练目标：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8355BC6-9F60-BF3F-E0AD-74045005B54D}"/>
              </a:ext>
            </a:extLst>
          </p:cNvPr>
          <p:cNvSpPr txBox="1"/>
          <p:nvPr/>
        </p:nvSpPr>
        <p:spPr>
          <a:xfrm>
            <a:off x="654312" y="294530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通道对齐约束：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62D0CA5-4BEF-1ADD-6AD0-38B956612B1C}"/>
              </a:ext>
            </a:extLst>
          </p:cNvPr>
          <p:cNvSpPr txBox="1"/>
          <p:nvPr/>
        </p:nvSpPr>
        <p:spPr>
          <a:xfrm>
            <a:off x="619322" y="4256143"/>
            <a:ext cx="6097554" cy="1840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其中：</a:t>
            </a:r>
          </a:p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C3k2_QDConv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：保持四向分支同步，</a:t>
            </a:r>
            <a:r>
              <a:rPr lang="en-US" altLang="zh-CN" b="0" i="0" dirty="0" err="1">
                <a:solidFill>
                  <a:srgbClr val="1A1C1F"/>
                </a:solidFill>
                <a:effectLst/>
                <a:latin typeface="ui-monospace"/>
              </a:rPr>
              <a:t>d_l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ui-monospace"/>
              </a:rPr>
              <a:t> = 4</a:t>
            </a:r>
            <a:endParaRPr lang="en-US" altLang="zh-CN" dirty="0">
              <a:solidFill>
                <a:srgbClr val="1A1C1F"/>
              </a:solidFill>
              <a:latin typeface="-apple-system"/>
            </a:endParaRPr>
          </a:p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1A1C1F"/>
                </a:solidFill>
                <a:effectLst/>
                <a:latin typeface="-apple-system"/>
              </a:rPr>
              <a:t>SSConv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：满足二分支和组卷积约束，</a:t>
            </a:r>
            <a:r>
              <a:rPr lang="en-US" altLang="zh-CN" b="0" i="0" dirty="0" err="1">
                <a:solidFill>
                  <a:srgbClr val="1A1C1F"/>
                </a:solidFill>
                <a:effectLst/>
                <a:latin typeface="ui-monospace"/>
              </a:rPr>
              <a:t>d_l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ui-monospace"/>
              </a:rPr>
              <a:t> = 8</a:t>
            </a:r>
            <a:endParaRPr lang="en-US" altLang="zh-CN" dirty="0">
              <a:solidFill>
                <a:srgbClr val="1A1C1F"/>
              </a:solidFill>
              <a:latin typeface="-apple-system"/>
            </a:endParaRPr>
          </a:p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C2SASA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：保持注意力头维度合法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9ECCE42-C67D-715F-3888-8A01BB3F786E}"/>
              </a:ext>
            </a:extLst>
          </p:cNvPr>
          <p:cNvSpPr txBox="1"/>
          <p:nvPr/>
        </p:nvSpPr>
        <p:spPr>
          <a:xfrm>
            <a:off x="7490149" y="862598"/>
            <a:ext cx="42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蒸馏损失：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0A0CFBA-F2E1-23BA-FC81-3CD04E567088}"/>
              </a:ext>
            </a:extLst>
          </p:cNvPr>
          <p:cNvSpPr txBox="1"/>
          <p:nvPr/>
        </p:nvSpPr>
        <p:spPr>
          <a:xfrm>
            <a:off x="7490149" y="1429176"/>
            <a:ext cx="1294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总损失：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CEBFA23-6FEA-ACAC-3AE2-40C923094F07}"/>
              </a:ext>
            </a:extLst>
          </p:cNvPr>
          <p:cNvSpPr txBox="1"/>
          <p:nvPr/>
        </p:nvSpPr>
        <p:spPr>
          <a:xfrm>
            <a:off x="7382846" y="2645155"/>
            <a:ext cx="1509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软目标蒸馏：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93DD147-7A23-64F7-99C9-073D22F5F46F}"/>
              </a:ext>
            </a:extLst>
          </p:cNvPr>
          <p:cNvSpPr txBox="1"/>
          <p:nvPr/>
        </p:nvSpPr>
        <p:spPr>
          <a:xfrm>
            <a:off x="7305869" y="4041750"/>
            <a:ext cx="1947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多阶段特征蒸馏：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62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实验数据集与验证方法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21C797-7780-2036-4576-22BB970A65F7}"/>
              </a:ext>
            </a:extLst>
          </p:cNvPr>
          <p:cNvSpPr txBox="1"/>
          <p:nvPr/>
        </p:nvSpPr>
        <p:spPr>
          <a:xfrm>
            <a:off x="2114551" y="694419"/>
            <a:ext cx="8289081" cy="321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数据集：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TCSD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794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张，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1280×960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标注：</a:t>
            </a:r>
            <a:r>
              <a:rPr lang="en-US" altLang="zh-CN" b="0" i="0" dirty="0" err="1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up_box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顶层单箱体，</a:t>
            </a:r>
            <a:r>
              <a:rPr lang="en-US" altLang="zh-CN" b="0" i="0" dirty="0" err="1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down_box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非顶层层级区域。</a:t>
            </a:r>
          </a:p>
          <a:p>
            <a:pPr marL="285750" indent="-28575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状态：空货物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（无任何实例检测结果）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、顶层满载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（仅包含下层货物</a:t>
            </a:r>
            <a:r>
              <a:rPr lang="zh-CN" altLang="zh-CN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down_box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，缺乏上层结构信息）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、顶层未满载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（同时包含上层</a:t>
            </a:r>
            <a:r>
              <a:rPr lang="zh-CN" altLang="zh-CN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up_box</a:t>
            </a:r>
            <a:r>
              <a:rPr lang="en-US" altLang="zh-CN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与下层</a:t>
            </a:r>
            <a:r>
              <a:rPr lang="zh-CN" altLang="zh-CN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down_box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，具备完整结构信息，可参与盘点处理）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验证：五折交叉验证。</a:t>
            </a:r>
          </a:p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环境：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i7-13620H + RTX 4090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0" i="0" dirty="0" err="1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2.3.0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CUDA 12.1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566BE40-8A7B-5600-5DF1-FE48154AC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818388"/>
              </p:ext>
            </p:extLst>
          </p:nvPr>
        </p:nvGraphicFramePr>
        <p:xfrm>
          <a:off x="2195091" y="4323756"/>
          <a:ext cx="812799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765927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038084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04670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1" dirty="0">
                          <a:solidFill>
                            <a:srgbClr val="1A1C1F"/>
                          </a:solidFill>
                          <a:effectLst/>
                        </a:rPr>
                        <a:t>状态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1" dirty="0">
                          <a:solidFill>
                            <a:srgbClr val="1A1C1F"/>
                          </a:solidFill>
                          <a:effectLst/>
                        </a:rPr>
                        <a:t>每折验证集数量范围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1">
                          <a:solidFill>
                            <a:srgbClr val="1A1C1F"/>
                          </a:solidFill>
                          <a:effectLst/>
                        </a:rPr>
                        <a:t>作用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74764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空货物图像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dirty="0">
                          <a:effectLst/>
                        </a:rPr>
                        <a:t>38-41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状态分流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5926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顶层满载图像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</a:rPr>
                        <a:t>87-90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直接计数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2916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顶层未满载有效计数图像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</a:rPr>
                        <a:t>30-32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面积比估计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618711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04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方法性能的评价指标</a:t>
            </a:r>
            <a:endParaRPr lang="zh-CN" alt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B85713B9-A463-0A54-96E4-1B0A5FB86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7F03BB8-9DD2-EA2D-35F2-029DB278D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984013"/>
              </p:ext>
            </p:extLst>
          </p:nvPr>
        </p:nvGraphicFramePr>
        <p:xfrm>
          <a:off x="4236099" y="4446444"/>
          <a:ext cx="3091953" cy="63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368300" progId="Equation.DSMT4">
                  <p:embed/>
                </p:oleObj>
              </mc:Choice>
              <mc:Fallback>
                <p:oleObj name="Equation" r:id="rId2" imgW="1828800" imgH="368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6099" y="4446444"/>
                        <a:ext cx="3091953" cy="630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A429F7C-B0F4-345D-F022-CFE2076B5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686989"/>
              </p:ext>
            </p:extLst>
          </p:nvPr>
        </p:nvGraphicFramePr>
        <p:xfrm>
          <a:off x="1841760" y="1138336"/>
          <a:ext cx="8508480" cy="28005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6160">
                  <a:extLst>
                    <a:ext uri="{9D8B030D-6E8A-4147-A177-3AD203B41FA5}">
                      <a16:colId xmlns:a16="http://schemas.microsoft.com/office/drawing/2014/main" val="728635547"/>
                    </a:ext>
                  </a:extLst>
                </a:gridCol>
                <a:gridCol w="2836160">
                  <a:extLst>
                    <a:ext uri="{9D8B030D-6E8A-4147-A177-3AD203B41FA5}">
                      <a16:colId xmlns:a16="http://schemas.microsoft.com/office/drawing/2014/main" val="3875746775"/>
                    </a:ext>
                  </a:extLst>
                </a:gridCol>
                <a:gridCol w="2836160">
                  <a:extLst>
                    <a:ext uri="{9D8B030D-6E8A-4147-A177-3AD203B41FA5}">
                      <a16:colId xmlns:a16="http://schemas.microsoft.com/office/drawing/2014/main" val="2594613150"/>
                    </a:ext>
                  </a:extLst>
                </a:gridCol>
              </a:tblGrid>
              <a:tr h="4000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1">
                          <a:solidFill>
                            <a:srgbClr val="1A1C1F"/>
                          </a:solidFill>
                          <a:effectLst/>
                        </a:rPr>
                        <a:t>指标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1">
                          <a:solidFill>
                            <a:srgbClr val="1A1C1F"/>
                          </a:solidFill>
                          <a:effectLst/>
                        </a:rPr>
                        <a:t>含义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1" dirty="0">
                          <a:solidFill>
                            <a:srgbClr val="1A1C1F"/>
                          </a:solidFill>
                          <a:effectLst/>
                        </a:rPr>
                        <a:t>作用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6155304"/>
                  </a:ext>
                </a:extLst>
              </a:tr>
              <a:tr h="40007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</a:rPr>
                        <a:t>box </a:t>
                      </a:r>
                      <a:r>
                        <a:rPr lang="en-US" dirty="0" err="1">
                          <a:effectLst/>
                        </a:rPr>
                        <a:t>mAP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检测框精度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衡量定位能力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2692268"/>
                  </a:ext>
                </a:extLst>
              </a:tr>
              <a:tr h="40007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mask mAP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掩膜分割精度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衡量轮廓质量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3631772"/>
                  </a:ext>
                </a:extLst>
              </a:tr>
              <a:tr h="40007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Params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参数量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衡量存储开销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0964258"/>
                  </a:ext>
                </a:extLst>
              </a:tr>
              <a:tr h="40007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GFLOPs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单次前向计算量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衡量理论计算复杂度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0789259"/>
                  </a:ext>
                </a:extLst>
              </a:tr>
              <a:tr h="40007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DA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检测准确率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判断结构识别是否正确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7214899"/>
                  </a:ext>
                </a:extLst>
              </a:tr>
              <a:tr h="40007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CA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>
                          <a:effectLst/>
                        </a:rPr>
                        <a:t>盘点准确率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判断最终数量是否正确</a:t>
                      </a:r>
                    </a:p>
                  </a:txBody>
                  <a:tcPr marL="38100" marR="38100" marT="38100" marB="381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419387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256E3DC-ED61-ABE9-9196-3045D3B536FF}"/>
              </a:ext>
            </a:extLst>
          </p:cNvPr>
          <p:cNvSpPr txBox="1"/>
          <p:nvPr/>
        </p:nvSpPr>
        <p:spPr>
          <a:xfrm>
            <a:off x="2725705" y="5350332"/>
            <a:ext cx="6740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ui-monospace"/>
              </a:rPr>
              <a:t>本文不仅看分割精度，还关注识别结果能否转化为正确盘点数量。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5576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YOLO11-StackLite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的各模块消融实验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308B7-C3F8-A224-C3F5-B8C7DC037DA1}"/>
              </a:ext>
            </a:extLst>
          </p:cNvPr>
          <p:cNvSpPr txBox="1"/>
          <p:nvPr/>
        </p:nvSpPr>
        <p:spPr>
          <a:xfrm>
            <a:off x="3047223" y="75037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YOLO11-StackLite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各模块消融实验结果对比表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89A3686-3464-A4F5-47B1-BC36FB788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132100"/>
              </p:ext>
            </p:extLst>
          </p:nvPr>
        </p:nvGraphicFramePr>
        <p:xfrm>
          <a:off x="690464" y="1557641"/>
          <a:ext cx="10672449" cy="284093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00113">
                  <a:extLst>
                    <a:ext uri="{9D8B030D-6E8A-4147-A177-3AD203B41FA5}">
                      <a16:colId xmlns:a16="http://schemas.microsoft.com/office/drawing/2014/main" val="2375238459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4110965794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1113762816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1177323783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3357066423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4018903892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948051986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2754931171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3248454653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3741640905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2873275458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3312048158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2463467047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574550019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1717121911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3940889354"/>
                    </a:ext>
                  </a:extLst>
                </a:gridCol>
                <a:gridCol w="623271">
                  <a:extLst>
                    <a:ext uri="{9D8B030D-6E8A-4147-A177-3AD203B41FA5}">
                      <a16:colId xmlns:a16="http://schemas.microsoft.com/office/drawing/2014/main" val="24118291"/>
                    </a:ext>
                  </a:extLst>
                </a:gridCol>
              </a:tblGrid>
              <a:tr h="322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C2SASA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</a:t>
                      </a:r>
                      <a:endParaRPr lang="zh-C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C3K2-QDConv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Parms/M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GFLOPS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Fold1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Fold2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Fold3 mAP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Fold4 mAP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Fold5 mAP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mAP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937513"/>
                  </a:ext>
                </a:extLst>
              </a:tr>
              <a:tr h="5825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lang="zh-CN" sz="14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</a:t>
                      </a:r>
                      <a:endParaRPr lang="zh-CN" sz="14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5863754"/>
                  </a:ext>
                </a:extLst>
              </a:tr>
              <a:tr h="322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84.8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83.9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1716498"/>
                  </a:ext>
                </a:extLst>
              </a:tr>
              <a:tr h="322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87.6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86.4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85.4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84.4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8394880"/>
                  </a:ext>
                </a:extLst>
              </a:tr>
              <a:tr h="322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84.2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4794990"/>
                  </a:ext>
                </a:extLst>
              </a:tr>
              <a:tr h="322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85.6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85.8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84.3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0295062"/>
                  </a:ext>
                </a:extLst>
              </a:tr>
              <a:tr h="322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34.9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87.9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85.3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84.2 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8818513"/>
                  </a:ext>
                </a:extLst>
              </a:tr>
              <a:tr h="322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34.9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88.6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87.8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86.7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86.0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85.6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80.6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78.0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85.7 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84.7 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377884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D82DD7B-98E3-CF75-91AB-9DD157B3F91A}"/>
              </a:ext>
            </a:extLst>
          </p:cNvPr>
          <p:cNvSpPr txBox="1"/>
          <p:nvPr/>
        </p:nvSpPr>
        <p:spPr>
          <a:xfrm>
            <a:off x="3869872" y="482472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A1C1F"/>
                </a:solidFill>
                <a:effectLst/>
                <a:latin typeface="ui-monospace"/>
              </a:rPr>
              <a:t>三个模块协同提升分割精度并降低复杂度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5431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不同实例分割模型的性能对比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EA98A4-ADF9-876D-55D4-ACA259BB11C4}"/>
              </a:ext>
            </a:extLst>
          </p:cNvPr>
          <p:cNvSpPr txBox="1"/>
          <p:nvPr/>
        </p:nvSpPr>
        <p:spPr>
          <a:xfrm>
            <a:off x="1137557" y="11094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使用五折交叉验证对 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TCSD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数据集的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mAP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指标结果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607585-0725-36BE-8A0D-30DC9F03FA60}"/>
              </a:ext>
            </a:extLst>
          </p:cNvPr>
          <p:cNvSpPr txBox="1"/>
          <p:nvPr/>
        </p:nvSpPr>
        <p:spPr>
          <a:xfrm>
            <a:off x="1136003" y="384245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不同实例分割模型在检测与盘点任务中的准确率比较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FBF503-FB6D-4C95-94A1-4E14ED65BA76}"/>
              </a:ext>
            </a:extLst>
          </p:cNvPr>
          <p:cNvSpPr txBox="1"/>
          <p:nvPr/>
        </p:nvSpPr>
        <p:spPr>
          <a:xfrm>
            <a:off x="8238930" y="1119692"/>
            <a:ext cx="391120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本研究对提出的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YOLO11-StackLite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TCSD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数据集上与其他算法的对比结果如表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所示。可见，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YOLO11-StackLite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在保证高精度的前提下实现了轻量化设计，在精度与效率之间取得良好平衡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模型性能。在五折交叉验证下的检测准确率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和盘点准确率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所示。本研究提出的改进模型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YOLO11-StackLite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在五折交叉验证中取得平均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95.88%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94.87%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，均高于其余对比方法，展现出优异的识别与计数性能。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28E6AEA7-221F-BD10-217D-4A1C02895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B578C88-B430-7588-E0CB-67AC76157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03" y="4334786"/>
            <a:ext cx="7701953" cy="245336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352A707-DB3A-02FD-E278-25FD7E49F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03" y="1540312"/>
            <a:ext cx="7701954" cy="245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原有方法与新方法实例分割可视化效果对比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A08E4F-1D74-41BA-389B-C1D8099CC8C3}"/>
              </a:ext>
            </a:extLst>
          </p:cNvPr>
          <p:cNvSpPr txBox="1"/>
          <p:nvPr/>
        </p:nvSpPr>
        <p:spPr>
          <a:xfrm>
            <a:off x="7128963" y="4097757"/>
            <a:ext cx="4276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YOLO11s-Seg vs YOLO11-StackLite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AC2C85-11BC-2A59-1A54-8F5B34047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76" y="706438"/>
            <a:ext cx="2161224" cy="286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85B479F-CB39-2EFE-9F4A-19A0BDE0B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440" y="706438"/>
            <a:ext cx="2013459" cy="286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7179FBE-9EC8-121A-8FF4-ED1385128C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1558" y="4192247"/>
            <a:ext cx="2785841" cy="208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40B4242-39FD-07E4-6622-337E54B15C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84967" y="4181962"/>
            <a:ext cx="2785842" cy="209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F36B104-E950-69A3-77D1-9E6730F79D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182" y="674161"/>
            <a:ext cx="2253045" cy="299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F38C1C5-79BC-A516-F1CB-0ADB703B09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6980" y="674161"/>
            <a:ext cx="2262176" cy="299558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445CE36-C93D-7E7A-07DD-6435F36AAD17}"/>
              </a:ext>
            </a:extLst>
          </p:cNvPr>
          <p:cNvSpPr txBox="1"/>
          <p:nvPr/>
        </p:nvSpPr>
        <p:spPr>
          <a:xfrm>
            <a:off x="1092966" y="3547911"/>
            <a:ext cx="793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BF45B7-6B43-B424-A606-795F1BA9C0E1}"/>
              </a:ext>
            </a:extLst>
          </p:cNvPr>
          <p:cNvSpPr txBox="1"/>
          <p:nvPr/>
        </p:nvSpPr>
        <p:spPr>
          <a:xfrm>
            <a:off x="3724912" y="3547911"/>
            <a:ext cx="703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35D290-D6AA-227E-704E-7D190F22674C}"/>
              </a:ext>
            </a:extLst>
          </p:cNvPr>
          <p:cNvSpPr txBox="1"/>
          <p:nvPr/>
        </p:nvSpPr>
        <p:spPr>
          <a:xfrm>
            <a:off x="3830594" y="6583686"/>
            <a:ext cx="703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E68883-6987-9ABF-BB0A-31A612230BC1}"/>
              </a:ext>
            </a:extLst>
          </p:cNvPr>
          <p:cNvSpPr txBox="1"/>
          <p:nvPr/>
        </p:nvSpPr>
        <p:spPr>
          <a:xfrm>
            <a:off x="1023295" y="6555989"/>
            <a:ext cx="676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3E4A58-3BA4-2264-2395-BC6D2D806632}"/>
              </a:ext>
            </a:extLst>
          </p:cNvPr>
          <p:cNvSpPr txBox="1"/>
          <p:nvPr/>
        </p:nvSpPr>
        <p:spPr>
          <a:xfrm>
            <a:off x="7371084" y="3669553"/>
            <a:ext cx="703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58F6E14-52EA-0C0D-E995-1315492F2804}"/>
              </a:ext>
            </a:extLst>
          </p:cNvPr>
          <p:cNvSpPr txBox="1"/>
          <p:nvPr/>
        </p:nvSpPr>
        <p:spPr>
          <a:xfrm>
            <a:off x="10133832" y="3653711"/>
            <a:ext cx="965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554DF0-26B9-B131-1D63-9C23FC25B64E}"/>
              </a:ext>
            </a:extLst>
          </p:cNvPr>
          <p:cNvSpPr txBox="1"/>
          <p:nvPr/>
        </p:nvSpPr>
        <p:spPr>
          <a:xfrm>
            <a:off x="7002354" y="4911136"/>
            <a:ext cx="3408736" cy="142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漏检减少</a:t>
            </a:r>
          </a:p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低置信度目标被正确保留</a:t>
            </a:r>
          </a:p>
          <a:p>
            <a:pPr marL="285750" indent="-28575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掩膜边界更完整</a:t>
            </a:r>
          </a:p>
        </p:txBody>
      </p:sp>
    </p:spTree>
    <p:extLst>
      <p:ext uri="{BB962C8B-B14F-4D97-AF65-F5344CB8AC3E}">
        <p14:creationId xmlns:p14="http://schemas.microsoft.com/office/powerpoint/2010/main" val="281719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装载状态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检测准确率与盘点计数准确率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E93312-F1C5-FE18-04B3-A846BCB3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10" y="4615265"/>
            <a:ext cx="7246423" cy="23082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FBD55F8-BFF4-6FBB-3CFA-40F02694CD57}"/>
              </a:ext>
            </a:extLst>
          </p:cNvPr>
          <p:cNvSpPr txBox="1"/>
          <p:nvPr/>
        </p:nvSpPr>
        <p:spPr>
          <a:xfrm>
            <a:off x="746888" y="751994"/>
            <a:ext cx="62458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不同装载状态图像在验证集各折的数量分布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328A9C-8C18-59B5-D6E1-A701FEF9DBF9}"/>
              </a:ext>
            </a:extLst>
          </p:cNvPr>
          <p:cNvSpPr txBox="1"/>
          <p:nvPr/>
        </p:nvSpPr>
        <p:spPr>
          <a:xfrm>
            <a:off x="703557" y="1940062"/>
            <a:ext cx="6332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各模型在验证集中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空货物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顶满图像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的检测准确率对比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FFC79D-DF88-6155-E790-4A38C4AD37F9}"/>
              </a:ext>
            </a:extLst>
          </p:cNvPr>
          <p:cNvSpPr txBox="1"/>
          <p:nvPr/>
        </p:nvSpPr>
        <p:spPr>
          <a:xfrm>
            <a:off x="671062" y="4307488"/>
            <a:ext cx="6452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各模型在有效计数图像中的盘点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计数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准确率（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检测准确率（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793899-7F62-F704-A105-6F48506EAD0A}"/>
              </a:ext>
            </a:extLst>
          </p:cNvPr>
          <p:cNvSpPr txBox="1"/>
          <p:nvPr/>
        </p:nvSpPr>
        <p:spPr>
          <a:xfrm>
            <a:off x="7706240" y="2722439"/>
            <a:ext cx="460621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可以看出：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全量样本：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 95.88%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 94.87%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顶层未满载困难子集：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 83.49%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 80.90%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困难子集更能体现面积比计数方法的价值</a:t>
            </a:r>
          </a:p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DE97231-8C17-CA86-BF3A-88568BEDB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53" y="1099769"/>
            <a:ext cx="7219135" cy="105553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0620F9E-C721-51A5-4B60-9ECE166C8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85" y="2276717"/>
            <a:ext cx="7219135" cy="229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00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EF7CDD-3841-362A-4D50-8756147F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ABE4-E118-4913-A306-6F8695349AD0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52434C-2CE9-879F-8DB0-20D603E736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蒸馏恢复与压缩实验结果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6AD1A6-9404-AB5C-D8C2-514DE44522B9}"/>
              </a:ext>
            </a:extLst>
          </p:cNvPr>
          <p:cNvSpPr txBox="1"/>
          <p:nvPr/>
        </p:nvSpPr>
        <p:spPr>
          <a:xfrm>
            <a:off x="1726164" y="5797686"/>
            <a:ext cx="8873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可以看出，参数量和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GFLOPs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明显下降，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DA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CA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仅小幅回落，说明压缩后仍能支撑后处理盘点。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8BC5C9-601A-2880-4C80-3473C96CC3B6}"/>
              </a:ext>
            </a:extLst>
          </p:cNvPr>
          <p:cNvSpPr txBox="1"/>
          <p:nvPr/>
        </p:nvSpPr>
        <p:spPr>
          <a:xfrm>
            <a:off x="1572209" y="906241"/>
            <a:ext cx="1495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A1C1F"/>
                </a:solidFill>
                <a:effectLst/>
                <a:latin typeface="-apple-system"/>
              </a:rPr>
              <a:t>压缩实验表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1A323D-B2D4-08FB-F76C-E3762000FC20}"/>
              </a:ext>
            </a:extLst>
          </p:cNvPr>
          <p:cNvSpPr txBox="1"/>
          <p:nvPr/>
        </p:nvSpPr>
        <p:spPr>
          <a:xfrm>
            <a:off x="1618861" y="3920751"/>
            <a:ext cx="1495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A1C1F"/>
                </a:solidFill>
                <a:effectLst/>
                <a:latin typeface="-apple-system"/>
              </a:rPr>
              <a:t>推理速度表</a:t>
            </a:r>
            <a:endParaRPr lang="zh-CN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2BA9884-7D38-AD5F-52A4-6C8FE0C79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256606"/>
              </p:ext>
            </p:extLst>
          </p:nvPr>
        </p:nvGraphicFramePr>
        <p:xfrm>
          <a:off x="1726164" y="1480749"/>
          <a:ext cx="8873412" cy="198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1646">
                  <a:extLst>
                    <a:ext uri="{9D8B030D-6E8A-4147-A177-3AD203B41FA5}">
                      <a16:colId xmlns:a16="http://schemas.microsoft.com/office/drawing/2014/main" val="1064236305"/>
                    </a:ext>
                  </a:extLst>
                </a:gridCol>
                <a:gridCol w="1344523">
                  <a:extLst>
                    <a:ext uri="{9D8B030D-6E8A-4147-A177-3AD203B41FA5}">
                      <a16:colId xmlns:a16="http://schemas.microsoft.com/office/drawing/2014/main" val="2248753534"/>
                    </a:ext>
                  </a:extLst>
                </a:gridCol>
                <a:gridCol w="961009">
                  <a:extLst>
                    <a:ext uri="{9D8B030D-6E8A-4147-A177-3AD203B41FA5}">
                      <a16:colId xmlns:a16="http://schemas.microsoft.com/office/drawing/2014/main" val="1592550673"/>
                    </a:ext>
                  </a:extLst>
                </a:gridCol>
                <a:gridCol w="1334277">
                  <a:extLst>
                    <a:ext uri="{9D8B030D-6E8A-4147-A177-3AD203B41FA5}">
                      <a16:colId xmlns:a16="http://schemas.microsoft.com/office/drawing/2014/main" val="364056803"/>
                    </a:ext>
                  </a:extLst>
                </a:gridCol>
                <a:gridCol w="1623527">
                  <a:extLst>
                    <a:ext uri="{9D8B030D-6E8A-4147-A177-3AD203B41FA5}">
                      <a16:colId xmlns:a16="http://schemas.microsoft.com/office/drawing/2014/main" val="1584094424"/>
                    </a:ext>
                  </a:extLst>
                </a:gridCol>
                <a:gridCol w="735369">
                  <a:extLst>
                    <a:ext uri="{9D8B030D-6E8A-4147-A177-3AD203B41FA5}">
                      <a16:colId xmlns:a16="http://schemas.microsoft.com/office/drawing/2014/main" val="1711536269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3405307022"/>
                    </a:ext>
                  </a:extLst>
                </a:gridCol>
              </a:tblGrid>
              <a:tr h="39769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Params/M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GFLOPs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 </a:t>
                      </a:r>
                      <a:r>
                        <a:rPr lang="en-US" b="1" dirty="0" err="1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/%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 </a:t>
                      </a:r>
                      <a:r>
                        <a:rPr lang="en-US" b="1" dirty="0" err="1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/%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DA/%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CA/%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320511"/>
                  </a:ext>
                </a:extLst>
              </a:tr>
              <a:tr h="39769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YOLO11-StackLite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34.9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85.7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84.7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95.88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94.87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25331584"/>
                  </a:ext>
                </a:extLst>
              </a:tr>
              <a:tr h="39769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Pruned Init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82.9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93.92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92.68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16610946"/>
                  </a:ext>
                </a:extLst>
              </a:tr>
              <a:tr h="39769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Pruned FT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84.8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94.82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93.88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189472616"/>
                  </a:ext>
                </a:extLst>
              </a:tr>
              <a:tr h="39769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Pruned + Distill</a:t>
                      </a: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</a:t>
                      </a: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83.9</a:t>
                      </a: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95.10</a:t>
                      </a: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94.02</a:t>
                      </a: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454112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0212CF8-1CE3-026D-D147-A66CD534A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484486"/>
              </p:ext>
            </p:extLst>
          </p:nvPr>
        </p:nvGraphicFramePr>
        <p:xfrm>
          <a:off x="2098870" y="4400363"/>
          <a:ext cx="8127999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461991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226304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60879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Latency/ms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 dirty="0">
                          <a:solidFill>
                            <a:srgbClr val="1A1C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FPS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192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YOLO11-StackLite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18.1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55.24</a:t>
                      </a:r>
                    </a:p>
                  </a:txBody>
                  <a:tcPr marL="38100" marR="38100" marT="38100" marB="381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4289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Pruned + Distill</a:t>
                      </a: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</a:t>
                      </a:r>
                      <a:endParaRPr lang="zh-CN" alt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61.72</a:t>
                      </a:r>
                      <a:endParaRPr lang="zh-CN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829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100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691073-69D3-842B-F76C-F66947AD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ABE4-E118-4913-A306-6F8695349AD0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1E7D26-6FD2-2091-B182-3A10F146DE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归纳创新之处与未来工作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3246CD-E883-16B7-4E55-BD9D2AA1201E}"/>
              </a:ext>
            </a:extLst>
          </p:cNvPr>
          <p:cNvSpPr txBox="1"/>
          <p:nvPr/>
        </p:nvSpPr>
        <p:spPr>
          <a:xfrm>
            <a:off x="2392212" y="1004158"/>
            <a:ext cx="74075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创新之处：</a:t>
            </a:r>
            <a:endParaRPr lang="en-US" altLang="zh-CN" sz="20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YOLO11-StackLite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，提升复杂堆叠场景下的实例分割能力。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构建面积比后处理计数流程，实现从分割结果到盘点数量的转换。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设计结构化剪枝与知识蒸馏压缩路线，提高边缘部署适配性。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未来工作：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扩展不同仓储、不同光照、不同货物类型数据。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引入多视角、深度或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3D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信息提升复杂遮挡场景鲁棒性。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Jetson Xavier NX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RK3588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等边缘设备上做实机部署测试。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5809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矩形 619"/>
          <p:cNvSpPr/>
          <p:nvPr/>
        </p:nvSpPr>
        <p:spPr>
          <a:xfrm>
            <a:off x="0" y="1772192"/>
            <a:ext cx="12192000" cy="2315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97" name="组合 596"/>
          <p:cNvGrpSpPr/>
          <p:nvPr/>
        </p:nvGrpSpPr>
        <p:grpSpPr>
          <a:xfrm>
            <a:off x="808818" y="1440333"/>
            <a:ext cx="3113459" cy="31140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99" name="椭圆 59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 sz="8000" dirty="0">
                <a:solidFill>
                  <a:srgbClr val="0070C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600" name="椭圆 599"/>
          <p:cNvSpPr/>
          <p:nvPr/>
        </p:nvSpPr>
        <p:spPr>
          <a:xfrm>
            <a:off x="183029" y="3832256"/>
            <a:ext cx="903568" cy="90356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602" name="组合 601"/>
          <p:cNvGrpSpPr/>
          <p:nvPr/>
        </p:nvGrpSpPr>
        <p:grpSpPr>
          <a:xfrm>
            <a:off x="703682" y="1425167"/>
            <a:ext cx="401413" cy="401413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603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04" name="椭圆 60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605" name="组合 604"/>
          <p:cNvGrpSpPr/>
          <p:nvPr/>
        </p:nvGrpSpPr>
        <p:grpSpPr>
          <a:xfrm>
            <a:off x="3534015" y="812159"/>
            <a:ext cx="831871" cy="831871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06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07" name="椭圆 60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608" name="组合 607"/>
          <p:cNvGrpSpPr/>
          <p:nvPr/>
        </p:nvGrpSpPr>
        <p:grpSpPr>
          <a:xfrm>
            <a:off x="10189887" y="3939563"/>
            <a:ext cx="293036" cy="29303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60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10" name="椭圆 60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611" name="组合 610"/>
          <p:cNvGrpSpPr/>
          <p:nvPr/>
        </p:nvGrpSpPr>
        <p:grpSpPr>
          <a:xfrm>
            <a:off x="9648395" y="3895526"/>
            <a:ext cx="383892" cy="383892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612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13" name="椭圆 61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615" name="椭圆 614"/>
          <p:cNvSpPr/>
          <p:nvPr/>
        </p:nvSpPr>
        <p:spPr>
          <a:xfrm>
            <a:off x="1640209" y="4482475"/>
            <a:ext cx="183185" cy="183185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616" name="组合 615"/>
          <p:cNvGrpSpPr/>
          <p:nvPr/>
        </p:nvGrpSpPr>
        <p:grpSpPr>
          <a:xfrm>
            <a:off x="1930972" y="5328836"/>
            <a:ext cx="951985" cy="951985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17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18" name="椭圆 617"/>
            <p:cNvSpPr/>
            <p:nvPr/>
          </p:nvSpPr>
          <p:spPr>
            <a:xfrm>
              <a:off x="406534" y="673100"/>
              <a:ext cx="3825876" cy="3825876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622" name="TextBox 7"/>
          <p:cNvSpPr>
            <a:spLocks noChangeArrowheads="1"/>
          </p:cNvSpPr>
          <p:nvPr/>
        </p:nvSpPr>
        <p:spPr bwMode="auto">
          <a:xfrm>
            <a:off x="4193824" y="2630460"/>
            <a:ext cx="799817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感谢各位老师的聆听，敬请批评指正</a:t>
            </a:r>
            <a:r>
              <a:rPr lang="zh-CN" altLang="en-US" sz="440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！</a:t>
            </a:r>
            <a:endParaRPr lang="zh-CN" altLang="en-US" sz="440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624" name="直接连接符 623"/>
          <p:cNvCxnSpPr/>
          <p:nvPr/>
        </p:nvCxnSpPr>
        <p:spPr>
          <a:xfrm>
            <a:off x="4357533" y="3512820"/>
            <a:ext cx="7262971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40" y="288709"/>
            <a:ext cx="2743387" cy="676987"/>
          </a:xfrm>
          <a:prstGeom prst="rect">
            <a:avLst/>
          </a:prstGeom>
        </p:spPr>
      </p:pic>
      <p:pic>
        <p:nvPicPr>
          <p:cNvPr id="32" name="图片 31"/>
          <p:cNvPicPr preferRelativeResize="0"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312" y="1643262"/>
            <a:ext cx="2744470" cy="274383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灯片编号占位符 3"/>
          <p:cNvSpPr txBox="1"/>
          <p:nvPr/>
        </p:nvSpPr>
        <p:spPr>
          <a:xfrm>
            <a:off x="9074148" y="644401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b="1" dirty="0">
                <a:solidFill>
                  <a:schemeClr val="tx1">
                    <a:tint val="75000"/>
                  </a:schemeClr>
                </a:solidFill>
              </a:rPr>
              <a:t>14</a:t>
            </a:r>
            <a:endParaRPr lang="zh-CN" altLang="en-US" sz="1200" b="1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00"/>
    </mc:Choice>
    <mc:Fallback xmlns="">
      <p:transition advTm="9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VkMTAwYjRhOWI4ZjRjZDU0ZjY0ZDY3NTIwNDhkYzUifQ=="/>
  <p:tag name="RESOURCE_RECORD_KEY" val="{&quot;70&quot;:[3314677,3318323,3314432,3312732,3312559,3312487]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3615</TotalTime>
  <Words>1510</Words>
  <Application>Microsoft Office PowerPoint</Application>
  <PresentationFormat>宽屏</PresentationFormat>
  <Paragraphs>359</Paragraphs>
  <Slides>18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-apple-system</vt:lpstr>
      <vt:lpstr>ui-monospace</vt:lpstr>
      <vt:lpstr>等线</vt:lpstr>
      <vt:lpstr>等线 Light</vt:lpstr>
      <vt:lpstr>楷体_GB2312</vt:lpstr>
      <vt:lpstr>宋体</vt:lpstr>
      <vt:lpstr>微软雅黑</vt:lpstr>
      <vt:lpstr>Arial</vt:lpstr>
      <vt:lpstr>Calibri</vt:lpstr>
      <vt:lpstr>Calibri Light</vt:lpstr>
      <vt:lpstr>Cambria Math</vt:lpstr>
      <vt:lpstr>Impact</vt:lpstr>
      <vt:lpstr>Times New Roman</vt:lpstr>
      <vt:lpstr>自定义设计方案</vt:lpstr>
      <vt:lpstr>1_自定义设计方案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panxiaomeng</dc:creator>
  <cp:lastModifiedBy>文轩 胡</cp:lastModifiedBy>
  <cp:revision>1665</cp:revision>
  <dcterms:created xsi:type="dcterms:W3CDTF">2017-10-20T06:33:00Z</dcterms:created>
  <dcterms:modified xsi:type="dcterms:W3CDTF">2026-05-19T19:22:29Z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77F5DEED9D5C4952994F21C702CF8A71_13</vt:lpwstr>
  </property>
</Properties>
</file>